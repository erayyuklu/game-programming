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0"/>
  </p:notesMasterIdLst>
  <p:sldIdLst>
    <p:sldId id="275" r:id="rId2"/>
    <p:sldId id="276" r:id="rId3"/>
    <p:sldId id="262" r:id="rId4"/>
    <p:sldId id="277" r:id="rId5"/>
    <p:sldId id="266" r:id="rId6"/>
    <p:sldId id="268" r:id="rId7"/>
    <p:sldId id="270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5"/>
    <p:restoredTop sz="87428"/>
  </p:normalViewPr>
  <p:slideViewPr>
    <p:cSldViewPr snapToGrid="0">
      <p:cViewPr>
        <p:scale>
          <a:sx n="79" d="100"/>
          <a:sy n="79" d="100"/>
        </p:scale>
        <p:origin x="33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67180-DFD1-4CB0-A99D-08F2298BE18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7BDBB9-0C3A-4642-AFEE-E180F32AA7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Variables</a:t>
          </a:r>
          <a:endParaRPr lang="en-US" u="sng" dirty="0"/>
        </a:p>
      </dgm:t>
    </dgm:pt>
    <dgm:pt modelId="{363265F0-92AA-48D5-9958-F1538A00891A}" type="parTrans" cxnId="{00270719-1168-4863-A9E6-CFF36A6F9BB8}">
      <dgm:prSet/>
      <dgm:spPr/>
      <dgm:t>
        <a:bodyPr/>
        <a:lstStyle/>
        <a:p>
          <a:endParaRPr lang="en-US"/>
        </a:p>
      </dgm:t>
    </dgm:pt>
    <dgm:pt modelId="{6BFF81A4-9817-4CA7-9E5A-C8F81397C076}" type="sibTrans" cxnId="{00270719-1168-4863-A9E6-CFF36A6F9BB8}">
      <dgm:prSet/>
      <dgm:spPr/>
      <dgm:t>
        <a:bodyPr/>
        <a:lstStyle/>
        <a:p>
          <a:endParaRPr lang="en-US"/>
        </a:p>
      </dgm:t>
    </dgm:pt>
    <dgm:pt modelId="{6431D45E-1B02-4019-BBA9-CD65F88107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Object count N </a:t>
          </a:r>
          <a:r>
            <a:rPr lang="en-US" dirty="0"/>
            <a:t>∈ {100, 500, 1000, 5000, 10000}</a:t>
          </a:r>
        </a:p>
      </dgm:t>
    </dgm:pt>
    <dgm:pt modelId="{4616B05F-15E6-480F-BA3E-0BAF4DB7FAAE}" type="parTrans" cxnId="{D6EF482E-D9CB-406F-B7FB-ECEDDB3A7CE9}">
      <dgm:prSet/>
      <dgm:spPr/>
      <dgm:t>
        <a:bodyPr/>
        <a:lstStyle/>
        <a:p>
          <a:endParaRPr lang="en-US"/>
        </a:p>
      </dgm:t>
    </dgm:pt>
    <dgm:pt modelId="{50E3B365-9266-4EB5-9CF4-BA6182A3167B}" type="sibTrans" cxnId="{D6EF482E-D9CB-406F-B7FB-ECEDDB3A7CE9}">
      <dgm:prSet/>
      <dgm:spPr/>
      <dgm:t>
        <a:bodyPr/>
        <a:lstStyle/>
        <a:p>
          <a:endParaRPr lang="en-US"/>
        </a:p>
      </dgm:t>
    </dgm:pt>
    <dgm:pt modelId="{86232BBC-0B49-4976-855A-F48680653E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Mesh complexity: </a:t>
          </a:r>
          <a:r>
            <a:rPr lang="en-US" dirty="0"/>
            <a:t>Low (112), Mid (1 740), High (19 800 tris)</a:t>
          </a:r>
        </a:p>
      </dgm:t>
    </dgm:pt>
    <dgm:pt modelId="{3A25AEFC-1D40-44C7-A8F7-9A0049417B3D}" type="parTrans" cxnId="{B311A36C-6442-460F-8145-BA74DD86687E}">
      <dgm:prSet/>
      <dgm:spPr/>
      <dgm:t>
        <a:bodyPr/>
        <a:lstStyle/>
        <a:p>
          <a:endParaRPr lang="en-US"/>
        </a:p>
      </dgm:t>
    </dgm:pt>
    <dgm:pt modelId="{19D320A6-72B7-47E6-B6FA-04B2D5817CD3}" type="sibTrans" cxnId="{B311A36C-6442-460F-8145-BA74DD86687E}">
      <dgm:prSet/>
      <dgm:spPr/>
      <dgm:t>
        <a:bodyPr/>
        <a:lstStyle/>
        <a:p>
          <a:endParaRPr lang="en-US"/>
        </a:p>
      </dgm:t>
    </dgm:pt>
    <dgm:pt modelId="{7DF3782B-63CF-4DFD-B0E2-E21EDE4D18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Mode: </a:t>
          </a:r>
          <a:r>
            <a:rPr lang="en-US" dirty="0"/>
            <a:t>Baseline, GPU Instancing, Static Batching (3×5×3 = 45 cells × 3 repeats)</a:t>
          </a:r>
        </a:p>
      </dgm:t>
    </dgm:pt>
    <dgm:pt modelId="{D75A6859-9E76-4056-BA21-7F73908D3C02}" type="parTrans" cxnId="{03032DEE-1982-4307-B7E8-80626AE062C2}">
      <dgm:prSet/>
      <dgm:spPr/>
      <dgm:t>
        <a:bodyPr/>
        <a:lstStyle/>
        <a:p>
          <a:endParaRPr lang="en-US"/>
        </a:p>
      </dgm:t>
    </dgm:pt>
    <dgm:pt modelId="{884930D0-6401-4CE8-868F-F1ABC86613D6}" type="sibTrans" cxnId="{03032DEE-1982-4307-B7E8-80626AE062C2}">
      <dgm:prSet/>
      <dgm:spPr/>
      <dgm:t>
        <a:bodyPr/>
        <a:lstStyle/>
        <a:p>
          <a:endParaRPr lang="en-US"/>
        </a:p>
      </dgm:t>
    </dgm:pt>
    <dgm:pt modelId="{070A154E-72D6-4FF7-9527-3CF65C27E7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Metrics Captured</a:t>
          </a:r>
          <a:endParaRPr lang="en-US" u="sng" dirty="0"/>
        </a:p>
      </dgm:t>
    </dgm:pt>
    <dgm:pt modelId="{313A41CD-08F6-42C0-B224-25F4CDE71F3A}" type="parTrans" cxnId="{677B4A09-C3AF-48AC-A165-08527B9D10FF}">
      <dgm:prSet/>
      <dgm:spPr/>
      <dgm:t>
        <a:bodyPr/>
        <a:lstStyle/>
        <a:p>
          <a:endParaRPr lang="en-US"/>
        </a:p>
      </dgm:t>
    </dgm:pt>
    <dgm:pt modelId="{3719B0F8-2647-498D-990A-DB7F003F5BD1}" type="sibTrans" cxnId="{677B4A09-C3AF-48AC-A165-08527B9D10FF}">
      <dgm:prSet/>
      <dgm:spPr/>
      <dgm:t>
        <a:bodyPr/>
        <a:lstStyle/>
        <a:p>
          <a:endParaRPr lang="en-US"/>
        </a:p>
      </dgm:t>
    </dgm:pt>
    <dgm:pt modelId="{3B014009-B597-4D0C-8D6B-4399CF9834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FPS &amp; frame time</a:t>
          </a:r>
          <a:r>
            <a:rPr lang="en-US" dirty="0"/>
            <a:t> : wall-clock vs. GPU (</a:t>
          </a:r>
          <a:r>
            <a:rPr lang="en-US" dirty="0" err="1"/>
            <a:t>FrameTimingManager</a:t>
          </a:r>
          <a:r>
            <a:rPr lang="en-US" dirty="0"/>
            <a:t>)</a:t>
          </a:r>
        </a:p>
      </dgm:t>
    </dgm:pt>
    <dgm:pt modelId="{E40AF6F5-9551-466C-972E-4C5FAE9800BB}" type="parTrans" cxnId="{28FF2932-8348-450E-A856-EEFC5906E20D}">
      <dgm:prSet/>
      <dgm:spPr/>
      <dgm:t>
        <a:bodyPr/>
        <a:lstStyle/>
        <a:p>
          <a:endParaRPr lang="en-US"/>
        </a:p>
      </dgm:t>
    </dgm:pt>
    <dgm:pt modelId="{3A40338A-D2E7-48D0-9A3F-15FC7CE53BA2}" type="sibTrans" cxnId="{28FF2932-8348-450E-A856-EEFC5906E20D}">
      <dgm:prSet/>
      <dgm:spPr/>
      <dgm:t>
        <a:bodyPr/>
        <a:lstStyle/>
        <a:p>
          <a:endParaRPr lang="en-US"/>
        </a:p>
      </dgm:t>
    </dgm:pt>
    <dgm:pt modelId="{0C041270-4B25-4065-BA59-354AAAE3E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Draw-call batches :</a:t>
          </a:r>
          <a:r>
            <a:rPr lang="en-US" b="0" i="0" dirty="0"/>
            <a:t> Unity </a:t>
          </a:r>
          <a:r>
            <a:rPr lang="en-US" b="0" i="0" dirty="0" err="1"/>
            <a:t>ProfilerRecorder</a:t>
          </a:r>
          <a:r>
            <a:rPr lang="en-US" b="0" i="0" dirty="0"/>
            <a:t> (Batches Count); theoretical formula substituted when Metal returns 0</a:t>
          </a:r>
          <a:endParaRPr lang="en-US" b="0" dirty="0"/>
        </a:p>
      </dgm:t>
    </dgm:pt>
    <dgm:pt modelId="{F42ABA18-DEF7-4E58-AD3E-D914EF9D1ED0}" type="parTrans" cxnId="{B91364AE-A065-4132-B308-BEB4F9B6CDA0}">
      <dgm:prSet/>
      <dgm:spPr/>
      <dgm:t>
        <a:bodyPr/>
        <a:lstStyle/>
        <a:p>
          <a:endParaRPr lang="en-US"/>
        </a:p>
      </dgm:t>
    </dgm:pt>
    <dgm:pt modelId="{B5C69CB8-45F1-4CD2-8ECF-5E7E6365FB2F}" type="sibTrans" cxnId="{B91364AE-A065-4132-B308-BEB4F9B6CDA0}">
      <dgm:prSet/>
      <dgm:spPr/>
      <dgm:t>
        <a:bodyPr/>
        <a:lstStyle/>
        <a:p>
          <a:endParaRPr lang="en-US"/>
        </a:p>
      </dgm:t>
    </dgm:pt>
    <dgm:pt modelId="{F60CA2E3-2071-4D2F-B8FE-BA52F854AB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Total reserved memory</a:t>
          </a:r>
          <a:r>
            <a:rPr lang="en-US" dirty="0"/>
            <a:t>: </a:t>
          </a:r>
          <a:r>
            <a:rPr lang="en-US" dirty="0" err="1"/>
            <a:t>Profiler.GetTotalReservedMemoryLong</a:t>
          </a:r>
          <a:r>
            <a:rPr lang="en-US" dirty="0"/>
            <a:t>()</a:t>
          </a:r>
        </a:p>
      </dgm:t>
    </dgm:pt>
    <dgm:pt modelId="{2EBD572C-040A-42B5-9ABC-8899E5F6459D}" type="parTrans" cxnId="{6482020B-EE54-44E2-B8C7-E570C7E9899C}">
      <dgm:prSet/>
      <dgm:spPr/>
      <dgm:t>
        <a:bodyPr/>
        <a:lstStyle/>
        <a:p>
          <a:endParaRPr lang="en-US"/>
        </a:p>
      </dgm:t>
    </dgm:pt>
    <dgm:pt modelId="{7BB470C5-D4A9-47B7-BC5F-6F146B62017B}" type="sibTrans" cxnId="{6482020B-EE54-44E2-B8C7-E570C7E9899C}">
      <dgm:prSet/>
      <dgm:spPr/>
      <dgm:t>
        <a:bodyPr/>
        <a:lstStyle/>
        <a:p>
          <a:endParaRPr lang="en-US"/>
        </a:p>
      </dgm:t>
    </dgm:pt>
    <dgm:pt modelId="{79C56CEB-E8DD-433D-A04B-4B2DD909AF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- Per cell: </a:t>
          </a:r>
          <a:r>
            <a:rPr lang="en-US" b="0" i="0" dirty="0"/>
            <a:t>3 s warm-up discarded, then 30 s measurement window (×3 repeats = 135 windows)</a:t>
          </a:r>
          <a:endParaRPr lang="en-US" b="0" dirty="0"/>
        </a:p>
      </dgm:t>
    </dgm:pt>
    <dgm:pt modelId="{611B063A-B217-4259-9C7A-5BFDB2A1BB67}" type="parTrans" cxnId="{ECAD77B6-C33B-40EB-BE40-3372543410D3}">
      <dgm:prSet/>
      <dgm:spPr/>
      <dgm:t>
        <a:bodyPr/>
        <a:lstStyle/>
        <a:p>
          <a:endParaRPr lang="en-US"/>
        </a:p>
      </dgm:t>
    </dgm:pt>
    <dgm:pt modelId="{17C88223-44DA-4E14-B75F-013B4AC8764E}" type="sibTrans" cxnId="{ECAD77B6-C33B-40EB-BE40-3372543410D3}">
      <dgm:prSet/>
      <dgm:spPr/>
      <dgm:t>
        <a:bodyPr/>
        <a:lstStyle/>
        <a:p>
          <a:endParaRPr lang="en-US"/>
        </a:p>
      </dgm:t>
    </dgm:pt>
    <dgm:pt modelId="{D86C51FB-F065-AB4E-8A0D-7BD5C0A18703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BA2923A8-2474-DF42-9F82-D8DEE5DC79B6}" type="parTrans" cxnId="{82FD1BCF-8604-5743-88F9-A2C54315DE54}">
      <dgm:prSet/>
      <dgm:spPr/>
      <dgm:t>
        <a:bodyPr/>
        <a:lstStyle/>
        <a:p>
          <a:endParaRPr lang="en-US"/>
        </a:p>
      </dgm:t>
    </dgm:pt>
    <dgm:pt modelId="{453DA121-D84E-4548-8F7F-B766EDDB9A4D}" type="sibTrans" cxnId="{82FD1BCF-8604-5743-88F9-A2C54315DE54}">
      <dgm:prSet/>
      <dgm:spPr/>
      <dgm:t>
        <a:bodyPr/>
        <a:lstStyle/>
        <a:p>
          <a:endParaRPr lang="en-US"/>
        </a:p>
      </dgm:t>
    </dgm:pt>
    <dgm:pt modelId="{A36B8B3D-1C52-B145-9C78-2FAED1FA68D2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A915FF4E-B663-0242-A950-75D1F091E8D1}" type="parTrans" cxnId="{7BC46C75-9BB9-B54A-AD8B-EB25A498BFD7}">
      <dgm:prSet/>
      <dgm:spPr/>
      <dgm:t>
        <a:bodyPr/>
        <a:lstStyle/>
        <a:p>
          <a:endParaRPr lang="en-US"/>
        </a:p>
      </dgm:t>
    </dgm:pt>
    <dgm:pt modelId="{2300A2C8-8A48-6944-8BEA-443428993053}" type="sibTrans" cxnId="{7BC46C75-9BB9-B54A-AD8B-EB25A498BFD7}">
      <dgm:prSet/>
      <dgm:spPr/>
      <dgm:t>
        <a:bodyPr/>
        <a:lstStyle/>
        <a:p>
          <a:endParaRPr lang="en-US"/>
        </a:p>
      </dgm:t>
    </dgm:pt>
    <dgm:pt modelId="{B1A49011-7D2A-49B8-A010-5F4F43FE453B}" type="pres">
      <dgm:prSet presAssocID="{CD367180-DFD1-4CB0-A99D-08F2298BE186}" presName="root" presStyleCnt="0">
        <dgm:presLayoutVars>
          <dgm:dir/>
          <dgm:resizeHandles val="exact"/>
        </dgm:presLayoutVars>
      </dgm:prSet>
      <dgm:spPr/>
    </dgm:pt>
    <dgm:pt modelId="{76B94E45-2331-4934-B4B8-95CE3A533DF2}" type="pres">
      <dgm:prSet presAssocID="{357BDBB9-0C3A-4642-AFEE-E180F32AA7C0}" presName="compNode" presStyleCnt="0"/>
      <dgm:spPr/>
    </dgm:pt>
    <dgm:pt modelId="{F5465587-41C0-4DF5-B17E-75DA0BDB70F4}" type="pres">
      <dgm:prSet presAssocID="{357BDBB9-0C3A-4642-AFEE-E180F32AA7C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EDA4C46-5A40-4011-A0F8-6896587EBD2D}" type="pres">
      <dgm:prSet presAssocID="{357BDBB9-0C3A-4642-AFEE-E180F32AA7C0}" presName="iconSpace" presStyleCnt="0"/>
      <dgm:spPr/>
    </dgm:pt>
    <dgm:pt modelId="{E2F404EE-DD7A-4EE3-AE1A-89C3B4D86597}" type="pres">
      <dgm:prSet presAssocID="{357BDBB9-0C3A-4642-AFEE-E180F32AA7C0}" presName="parTx" presStyleLbl="revTx" presStyleIdx="0" presStyleCnt="4">
        <dgm:presLayoutVars>
          <dgm:chMax val="0"/>
          <dgm:chPref val="0"/>
        </dgm:presLayoutVars>
      </dgm:prSet>
      <dgm:spPr/>
    </dgm:pt>
    <dgm:pt modelId="{C73E26C8-7D5C-4BFA-A15C-053A4BDA5C2B}" type="pres">
      <dgm:prSet presAssocID="{357BDBB9-0C3A-4642-AFEE-E180F32AA7C0}" presName="txSpace" presStyleCnt="0"/>
      <dgm:spPr/>
    </dgm:pt>
    <dgm:pt modelId="{B99B8FB8-9F12-46C5-9E6F-10717C844B91}" type="pres">
      <dgm:prSet presAssocID="{357BDBB9-0C3A-4642-AFEE-E180F32AA7C0}" presName="desTx" presStyleLbl="revTx" presStyleIdx="1" presStyleCnt="4">
        <dgm:presLayoutVars/>
      </dgm:prSet>
      <dgm:spPr/>
    </dgm:pt>
    <dgm:pt modelId="{4F28E4CB-5429-41E9-B0FA-60DC3A812461}" type="pres">
      <dgm:prSet presAssocID="{6BFF81A4-9817-4CA7-9E5A-C8F81397C076}" presName="sibTrans" presStyleCnt="0"/>
      <dgm:spPr/>
    </dgm:pt>
    <dgm:pt modelId="{E37CE029-A34D-432B-8790-F06231BCE972}" type="pres">
      <dgm:prSet presAssocID="{070A154E-72D6-4FF7-9527-3CF65C27E789}" presName="compNode" presStyleCnt="0"/>
      <dgm:spPr/>
    </dgm:pt>
    <dgm:pt modelId="{676902CC-466E-42F9-8A6F-1DD8AA9475A3}" type="pres">
      <dgm:prSet presAssocID="{070A154E-72D6-4FF7-9527-3CF65C27E7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4521411-B86E-4E9F-B6D7-610536035CD6}" type="pres">
      <dgm:prSet presAssocID="{070A154E-72D6-4FF7-9527-3CF65C27E789}" presName="iconSpace" presStyleCnt="0"/>
      <dgm:spPr/>
    </dgm:pt>
    <dgm:pt modelId="{39CE64D5-EFB3-4081-8407-AEF28C450AAF}" type="pres">
      <dgm:prSet presAssocID="{070A154E-72D6-4FF7-9527-3CF65C27E789}" presName="parTx" presStyleLbl="revTx" presStyleIdx="2" presStyleCnt="4">
        <dgm:presLayoutVars>
          <dgm:chMax val="0"/>
          <dgm:chPref val="0"/>
        </dgm:presLayoutVars>
      </dgm:prSet>
      <dgm:spPr/>
    </dgm:pt>
    <dgm:pt modelId="{0BD7F3D3-0C3D-4FAF-83FB-DD2CD930B3FD}" type="pres">
      <dgm:prSet presAssocID="{070A154E-72D6-4FF7-9527-3CF65C27E789}" presName="txSpace" presStyleCnt="0"/>
      <dgm:spPr/>
    </dgm:pt>
    <dgm:pt modelId="{A2080BDE-A142-4FDE-BD02-1D5CD7900EC7}" type="pres">
      <dgm:prSet presAssocID="{070A154E-72D6-4FF7-9527-3CF65C27E789}" presName="desTx" presStyleLbl="revTx" presStyleIdx="3" presStyleCnt="4">
        <dgm:presLayoutVars/>
      </dgm:prSet>
      <dgm:spPr/>
    </dgm:pt>
  </dgm:ptLst>
  <dgm:cxnLst>
    <dgm:cxn modelId="{44AE3C06-BEA8-3040-99FC-FCA3085B2F42}" type="presOf" srcId="{7DF3782B-63CF-4DFD-B0E2-E21EDE4D189F}" destId="{B99B8FB8-9F12-46C5-9E6F-10717C844B91}" srcOrd="0" destOrd="2" presId="urn:microsoft.com/office/officeart/2018/5/layout/CenteredIconLabelDescriptionList"/>
    <dgm:cxn modelId="{677B4A09-C3AF-48AC-A165-08527B9D10FF}" srcId="{CD367180-DFD1-4CB0-A99D-08F2298BE186}" destId="{070A154E-72D6-4FF7-9527-3CF65C27E789}" srcOrd="1" destOrd="0" parTransId="{313A41CD-08F6-42C0-B224-25F4CDE71F3A}" sibTransId="{3719B0F8-2647-498D-990A-DB7F003F5BD1}"/>
    <dgm:cxn modelId="{837F750A-DB9C-1440-B40A-5BB443F0BCFC}" type="presOf" srcId="{070A154E-72D6-4FF7-9527-3CF65C27E789}" destId="{39CE64D5-EFB3-4081-8407-AEF28C450AAF}" srcOrd="0" destOrd="0" presId="urn:microsoft.com/office/officeart/2018/5/layout/CenteredIconLabelDescriptionList"/>
    <dgm:cxn modelId="{6482020B-EE54-44E2-B8C7-E570C7E9899C}" srcId="{070A154E-72D6-4FF7-9527-3CF65C27E789}" destId="{F60CA2E3-2071-4D2F-B8FE-BA52F854ABE9}" srcOrd="2" destOrd="0" parTransId="{2EBD572C-040A-42B5-9ABC-8899E5F6459D}" sibTransId="{7BB470C5-D4A9-47B7-BC5F-6F146B62017B}"/>
    <dgm:cxn modelId="{00270719-1168-4863-A9E6-CFF36A6F9BB8}" srcId="{CD367180-DFD1-4CB0-A99D-08F2298BE186}" destId="{357BDBB9-0C3A-4642-AFEE-E180F32AA7C0}" srcOrd="0" destOrd="0" parTransId="{363265F0-92AA-48D5-9958-F1538A00891A}" sibTransId="{6BFF81A4-9817-4CA7-9E5A-C8F81397C076}"/>
    <dgm:cxn modelId="{820F6A1A-0DDE-254B-80B5-1BB85782E0A9}" type="presOf" srcId="{F60CA2E3-2071-4D2F-B8FE-BA52F854ABE9}" destId="{A2080BDE-A142-4FDE-BD02-1D5CD7900EC7}" srcOrd="0" destOrd="2" presId="urn:microsoft.com/office/officeart/2018/5/layout/CenteredIconLabelDescriptionList"/>
    <dgm:cxn modelId="{0A74402E-7E6D-6742-9699-E1310D3AA1AD}" type="presOf" srcId="{6431D45E-1B02-4019-BBA9-CD65F8810772}" destId="{B99B8FB8-9F12-46C5-9E6F-10717C844B91}" srcOrd="0" destOrd="0" presId="urn:microsoft.com/office/officeart/2018/5/layout/CenteredIconLabelDescriptionList"/>
    <dgm:cxn modelId="{D6EF482E-D9CB-406F-B7FB-ECEDDB3A7CE9}" srcId="{357BDBB9-0C3A-4642-AFEE-E180F32AA7C0}" destId="{6431D45E-1B02-4019-BBA9-CD65F8810772}" srcOrd="0" destOrd="0" parTransId="{4616B05F-15E6-480F-BA3E-0BAF4DB7FAAE}" sibTransId="{50E3B365-9266-4EB5-9CF4-BA6182A3167B}"/>
    <dgm:cxn modelId="{89FE8731-A544-FC4E-9058-5F8737D10096}" type="presOf" srcId="{357BDBB9-0C3A-4642-AFEE-E180F32AA7C0}" destId="{E2F404EE-DD7A-4EE3-AE1A-89C3B4D86597}" srcOrd="0" destOrd="0" presId="urn:microsoft.com/office/officeart/2018/5/layout/CenteredIconLabelDescriptionList"/>
    <dgm:cxn modelId="{28FF2932-8348-450E-A856-EEFC5906E20D}" srcId="{070A154E-72D6-4FF7-9527-3CF65C27E789}" destId="{3B014009-B597-4D0C-8D6B-4399CF9834A1}" srcOrd="0" destOrd="0" parTransId="{E40AF6F5-9551-466C-972E-4C5FAE9800BB}" sibTransId="{3A40338A-D2E7-48D0-9A3F-15FC7CE53BA2}"/>
    <dgm:cxn modelId="{B311A36C-6442-460F-8145-BA74DD86687E}" srcId="{357BDBB9-0C3A-4642-AFEE-E180F32AA7C0}" destId="{86232BBC-0B49-4976-855A-F48680653E62}" srcOrd="1" destOrd="0" parTransId="{3A25AEFC-1D40-44C7-A8F7-9A0049417B3D}" sibTransId="{19D320A6-72B7-47E6-B6FA-04B2D5817CD3}"/>
    <dgm:cxn modelId="{7BC46C75-9BB9-B54A-AD8B-EB25A498BFD7}" srcId="{357BDBB9-0C3A-4642-AFEE-E180F32AA7C0}" destId="{A36B8B3D-1C52-B145-9C78-2FAED1FA68D2}" srcOrd="3" destOrd="0" parTransId="{A915FF4E-B663-0242-A950-75D1F091E8D1}" sibTransId="{2300A2C8-8A48-6944-8BEA-443428993053}"/>
    <dgm:cxn modelId="{E2314493-2624-6D4E-A8C9-432FC5E40DF1}" type="presOf" srcId="{3B014009-B597-4D0C-8D6B-4399CF9834A1}" destId="{A2080BDE-A142-4FDE-BD02-1D5CD7900EC7}" srcOrd="0" destOrd="0" presId="urn:microsoft.com/office/officeart/2018/5/layout/CenteredIconLabelDescriptionList"/>
    <dgm:cxn modelId="{E96773AB-8833-BA4E-9044-8A6EDFD530DD}" type="presOf" srcId="{86232BBC-0B49-4976-855A-F48680653E62}" destId="{B99B8FB8-9F12-46C5-9E6F-10717C844B91}" srcOrd="0" destOrd="1" presId="urn:microsoft.com/office/officeart/2018/5/layout/CenteredIconLabelDescriptionList"/>
    <dgm:cxn modelId="{B91364AE-A065-4132-B308-BEB4F9B6CDA0}" srcId="{070A154E-72D6-4FF7-9527-3CF65C27E789}" destId="{0C041270-4B25-4065-BA59-354AAAE3E169}" srcOrd="1" destOrd="0" parTransId="{F42ABA18-DEF7-4E58-AD3E-D914EF9D1ED0}" sibTransId="{B5C69CB8-45F1-4CD2-8ECF-5E7E6365FB2F}"/>
    <dgm:cxn modelId="{ECAD77B6-C33B-40EB-BE40-3372543410D3}" srcId="{070A154E-72D6-4FF7-9527-3CF65C27E789}" destId="{79C56CEB-E8DD-433D-A04B-4B2DD909AFC1}" srcOrd="3" destOrd="0" parTransId="{611B063A-B217-4259-9C7A-5BFDB2A1BB67}" sibTransId="{17C88223-44DA-4E14-B75F-013B4AC8764E}"/>
    <dgm:cxn modelId="{D769A4BE-8921-C147-B0BA-6947331F2014}" type="presOf" srcId="{79C56CEB-E8DD-433D-A04B-4B2DD909AFC1}" destId="{A2080BDE-A142-4FDE-BD02-1D5CD7900EC7}" srcOrd="0" destOrd="3" presId="urn:microsoft.com/office/officeart/2018/5/layout/CenteredIconLabelDescriptionList"/>
    <dgm:cxn modelId="{24FA56CB-D661-0340-BA88-0B1AE172A489}" type="presOf" srcId="{D86C51FB-F065-AB4E-8A0D-7BD5C0A18703}" destId="{B99B8FB8-9F12-46C5-9E6F-10717C844B91}" srcOrd="0" destOrd="4" presId="urn:microsoft.com/office/officeart/2018/5/layout/CenteredIconLabelDescriptionList"/>
    <dgm:cxn modelId="{82FD1BCF-8604-5743-88F9-A2C54315DE54}" srcId="{357BDBB9-0C3A-4642-AFEE-E180F32AA7C0}" destId="{D86C51FB-F065-AB4E-8A0D-7BD5C0A18703}" srcOrd="4" destOrd="0" parTransId="{BA2923A8-2474-DF42-9F82-D8DEE5DC79B6}" sibTransId="{453DA121-D84E-4548-8F7F-B766EDDB9A4D}"/>
    <dgm:cxn modelId="{F29506D5-9927-AB49-A9C0-A17E019EB96F}" type="presOf" srcId="{CD367180-DFD1-4CB0-A99D-08F2298BE186}" destId="{B1A49011-7D2A-49B8-A010-5F4F43FE453B}" srcOrd="0" destOrd="0" presId="urn:microsoft.com/office/officeart/2018/5/layout/CenteredIconLabelDescriptionList"/>
    <dgm:cxn modelId="{AEC5E3DD-1926-234D-8886-39F88CB5F7B5}" type="presOf" srcId="{A36B8B3D-1C52-B145-9C78-2FAED1FA68D2}" destId="{B99B8FB8-9F12-46C5-9E6F-10717C844B91}" srcOrd="0" destOrd="3" presId="urn:microsoft.com/office/officeart/2018/5/layout/CenteredIconLabelDescriptionList"/>
    <dgm:cxn modelId="{03032DEE-1982-4307-B7E8-80626AE062C2}" srcId="{357BDBB9-0C3A-4642-AFEE-E180F32AA7C0}" destId="{7DF3782B-63CF-4DFD-B0E2-E21EDE4D189F}" srcOrd="2" destOrd="0" parTransId="{D75A6859-9E76-4056-BA21-7F73908D3C02}" sibTransId="{884930D0-6401-4CE8-868F-F1ABC86613D6}"/>
    <dgm:cxn modelId="{2572F8FD-430C-704E-9BC0-9019366DCC9A}" type="presOf" srcId="{0C041270-4B25-4065-BA59-354AAAE3E169}" destId="{A2080BDE-A142-4FDE-BD02-1D5CD7900EC7}" srcOrd="0" destOrd="1" presId="urn:microsoft.com/office/officeart/2018/5/layout/CenteredIconLabelDescriptionList"/>
    <dgm:cxn modelId="{0910B306-5B23-254A-BBAA-3253EEF242D0}" type="presParOf" srcId="{B1A49011-7D2A-49B8-A010-5F4F43FE453B}" destId="{76B94E45-2331-4934-B4B8-95CE3A533DF2}" srcOrd="0" destOrd="0" presId="urn:microsoft.com/office/officeart/2018/5/layout/CenteredIconLabelDescriptionList"/>
    <dgm:cxn modelId="{AE66EF1A-6036-0C4A-8068-96AFE1438229}" type="presParOf" srcId="{76B94E45-2331-4934-B4B8-95CE3A533DF2}" destId="{F5465587-41C0-4DF5-B17E-75DA0BDB70F4}" srcOrd="0" destOrd="0" presId="urn:microsoft.com/office/officeart/2018/5/layout/CenteredIconLabelDescriptionList"/>
    <dgm:cxn modelId="{8FEEE20E-ADCE-2B44-AF52-2D50594E7E60}" type="presParOf" srcId="{76B94E45-2331-4934-B4B8-95CE3A533DF2}" destId="{1EDA4C46-5A40-4011-A0F8-6896587EBD2D}" srcOrd="1" destOrd="0" presId="urn:microsoft.com/office/officeart/2018/5/layout/CenteredIconLabelDescriptionList"/>
    <dgm:cxn modelId="{9AD6C6DD-8863-B84E-9755-2683FA7050A9}" type="presParOf" srcId="{76B94E45-2331-4934-B4B8-95CE3A533DF2}" destId="{E2F404EE-DD7A-4EE3-AE1A-89C3B4D86597}" srcOrd="2" destOrd="0" presId="urn:microsoft.com/office/officeart/2018/5/layout/CenteredIconLabelDescriptionList"/>
    <dgm:cxn modelId="{A97A8734-96FD-1742-B7A7-C3C60EB3FA5A}" type="presParOf" srcId="{76B94E45-2331-4934-B4B8-95CE3A533DF2}" destId="{C73E26C8-7D5C-4BFA-A15C-053A4BDA5C2B}" srcOrd="3" destOrd="0" presId="urn:microsoft.com/office/officeart/2018/5/layout/CenteredIconLabelDescriptionList"/>
    <dgm:cxn modelId="{2846A086-BF2C-A640-88AC-D900FD050953}" type="presParOf" srcId="{76B94E45-2331-4934-B4B8-95CE3A533DF2}" destId="{B99B8FB8-9F12-46C5-9E6F-10717C844B91}" srcOrd="4" destOrd="0" presId="urn:microsoft.com/office/officeart/2018/5/layout/CenteredIconLabelDescriptionList"/>
    <dgm:cxn modelId="{7AE218D7-7ACC-364F-AD0C-0D08B8F03277}" type="presParOf" srcId="{B1A49011-7D2A-49B8-A010-5F4F43FE453B}" destId="{4F28E4CB-5429-41E9-B0FA-60DC3A812461}" srcOrd="1" destOrd="0" presId="urn:microsoft.com/office/officeart/2018/5/layout/CenteredIconLabelDescriptionList"/>
    <dgm:cxn modelId="{4921A52B-B2CC-A54D-8ABD-4543630844FC}" type="presParOf" srcId="{B1A49011-7D2A-49B8-A010-5F4F43FE453B}" destId="{E37CE029-A34D-432B-8790-F06231BCE972}" srcOrd="2" destOrd="0" presId="urn:microsoft.com/office/officeart/2018/5/layout/CenteredIconLabelDescriptionList"/>
    <dgm:cxn modelId="{1FD3E74C-6A47-A047-9D25-CCFB173F555C}" type="presParOf" srcId="{E37CE029-A34D-432B-8790-F06231BCE972}" destId="{676902CC-466E-42F9-8A6F-1DD8AA9475A3}" srcOrd="0" destOrd="0" presId="urn:microsoft.com/office/officeart/2018/5/layout/CenteredIconLabelDescriptionList"/>
    <dgm:cxn modelId="{619B5BF6-3AD8-C541-891F-0B28156E1968}" type="presParOf" srcId="{E37CE029-A34D-432B-8790-F06231BCE972}" destId="{24521411-B86E-4E9F-B6D7-610536035CD6}" srcOrd="1" destOrd="0" presId="urn:microsoft.com/office/officeart/2018/5/layout/CenteredIconLabelDescriptionList"/>
    <dgm:cxn modelId="{D5765821-CA90-C649-8F9D-32BCF43DC728}" type="presParOf" srcId="{E37CE029-A34D-432B-8790-F06231BCE972}" destId="{39CE64D5-EFB3-4081-8407-AEF28C450AAF}" srcOrd="2" destOrd="0" presId="urn:microsoft.com/office/officeart/2018/5/layout/CenteredIconLabelDescriptionList"/>
    <dgm:cxn modelId="{E533515C-E1CB-8A40-AB49-343BB772B3EA}" type="presParOf" srcId="{E37CE029-A34D-432B-8790-F06231BCE972}" destId="{0BD7F3D3-0C3D-4FAF-83FB-DD2CD930B3FD}" srcOrd="3" destOrd="0" presId="urn:microsoft.com/office/officeart/2018/5/layout/CenteredIconLabelDescriptionList"/>
    <dgm:cxn modelId="{360D021F-CBB9-5D42-AA3A-D0484B807B65}" type="presParOf" srcId="{E37CE029-A34D-432B-8790-F06231BCE972}" destId="{A2080BDE-A142-4FDE-BD02-1D5CD7900EC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A55B19-5E89-46E8-A2E7-DE34580D6E9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7B5B1B-4977-4B59-9939-D50C53FD4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GPU Instancing scales best.</a:t>
          </a:r>
          <a:r>
            <a:rPr lang="en-US" dirty="0"/>
            <a:t> Constant batch count (≤21) regardless of N; 2.6× FPS gain at N=10,000 high-poly.</a:t>
          </a:r>
        </a:p>
      </dgm:t>
    </dgm:pt>
    <dgm:pt modelId="{2603B7FE-8FD4-423F-9162-C79D3768ACD8}" type="parTrans" cxnId="{52D4F9E4-DD78-44C4-879C-A2C9C158F5C1}">
      <dgm:prSet/>
      <dgm:spPr/>
      <dgm:t>
        <a:bodyPr/>
        <a:lstStyle/>
        <a:p>
          <a:endParaRPr lang="en-US"/>
        </a:p>
      </dgm:t>
    </dgm:pt>
    <dgm:pt modelId="{E649763D-437B-4D85-8513-6A2B1522FE90}" type="sibTrans" cxnId="{52D4F9E4-DD78-44C4-879C-A2C9C158F5C1}">
      <dgm:prSet/>
      <dgm:spPr/>
      <dgm:t>
        <a:bodyPr/>
        <a:lstStyle/>
        <a:p>
          <a:endParaRPr lang="en-US"/>
        </a:p>
      </dgm:t>
    </dgm:pt>
    <dgm:pt modelId="{FF9C9304-77A9-4453-8295-4DA83EE30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Static Batching has hidden costs.</a:t>
          </a:r>
          <a:r>
            <a:rPr lang="en-US" dirty="0"/>
            <a:t> 6.2 GB memory at high-poly; vertex cap forces re-batching as mesh size grows.</a:t>
          </a:r>
        </a:p>
      </dgm:t>
    </dgm:pt>
    <dgm:pt modelId="{57F1759A-CB5D-4764-B1FF-F33666748264}" type="parTrans" cxnId="{3C58E185-EF83-4044-819F-30D4D5B26276}">
      <dgm:prSet/>
      <dgm:spPr/>
      <dgm:t>
        <a:bodyPr/>
        <a:lstStyle/>
        <a:p>
          <a:endParaRPr lang="en-US"/>
        </a:p>
      </dgm:t>
    </dgm:pt>
    <dgm:pt modelId="{91C95432-60C9-4032-B9CF-26F105F838B3}" type="sibTrans" cxnId="{3C58E185-EF83-4044-819F-30D4D5B26276}">
      <dgm:prSet/>
      <dgm:spPr/>
      <dgm:t>
        <a:bodyPr/>
        <a:lstStyle/>
        <a:p>
          <a:endParaRPr lang="en-US"/>
        </a:p>
      </dgm:t>
    </dgm:pt>
    <dgm:pt modelId="{000DCD06-6D93-45A6-A4A2-F5EFDF9051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Bottleneck shifts with mesh complexity.</a:t>
          </a:r>
          <a:r>
            <a:rPr lang="en-US"/>
            <a:t> Low/Mid-poly: CPU-bound (batching wins). High-poly: GPU-bound (batching gains plateau).</a:t>
          </a:r>
        </a:p>
      </dgm:t>
    </dgm:pt>
    <dgm:pt modelId="{5E843592-EEF1-4A30-8E12-E0D1ABDC85CB}" type="parTrans" cxnId="{9EA25938-60AB-451B-9FFA-55DF5A5BC488}">
      <dgm:prSet/>
      <dgm:spPr/>
      <dgm:t>
        <a:bodyPr/>
        <a:lstStyle/>
        <a:p>
          <a:endParaRPr lang="en-US"/>
        </a:p>
      </dgm:t>
    </dgm:pt>
    <dgm:pt modelId="{8A0B7C7B-67AF-4A7F-A350-1A6564662481}" type="sibTrans" cxnId="{9EA25938-60AB-451B-9FFA-55DF5A5BC488}">
      <dgm:prSet/>
      <dgm:spPr/>
      <dgm:t>
        <a:bodyPr/>
        <a:lstStyle/>
        <a:p>
          <a:endParaRPr lang="en-US"/>
        </a:p>
      </dgm:t>
    </dgm:pt>
    <dgm:pt modelId="{6636DA56-6A19-41BE-A9A1-491ECC301A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Recommendation:</a:t>
          </a:r>
          <a:r>
            <a:rPr lang="en-US" dirty="0"/>
            <a:t> Default to GPU Instancing for repeated meshes; reserve Static Batching for small, light scenes.</a:t>
          </a:r>
        </a:p>
      </dgm:t>
    </dgm:pt>
    <dgm:pt modelId="{544FA9D9-C856-434E-B75C-9CAE95C72CA4}" type="parTrans" cxnId="{E2BA8AEF-192D-4F9D-944E-9562B6CD1F4B}">
      <dgm:prSet/>
      <dgm:spPr/>
      <dgm:t>
        <a:bodyPr/>
        <a:lstStyle/>
        <a:p>
          <a:endParaRPr lang="en-US"/>
        </a:p>
      </dgm:t>
    </dgm:pt>
    <dgm:pt modelId="{789FC67E-D251-46C5-BF75-B18484CAFBE0}" type="sibTrans" cxnId="{E2BA8AEF-192D-4F9D-944E-9562B6CD1F4B}">
      <dgm:prSet/>
      <dgm:spPr/>
      <dgm:t>
        <a:bodyPr/>
        <a:lstStyle/>
        <a:p>
          <a:endParaRPr lang="en-US"/>
        </a:p>
      </dgm:t>
    </dgm:pt>
    <dgm:pt modelId="{B17AB96E-82A9-4E74-BB4B-4DB8A3F740DB}" type="pres">
      <dgm:prSet presAssocID="{65A55B19-5E89-46E8-A2E7-DE34580D6E9D}" presName="root" presStyleCnt="0">
        <dgm:presLayoutVars>
          <dgm:dir/>
          <dgm:resizeHandles val="exact"/>
        </dgm:presLayoutVars>
      </dgm:prSet>
      <dgm:spPr/>
    </dgm:pt>
    <dgm:pt modelId="{F00D6421-9C93-4B55-96AA-0FFC5BD6C4B6}" type="pres">
      <dgm:prSet presAssocID="{707B5B1B-4977-4B59-9939-D50C53FD40B9}" presName="compNode" presStyleCnt="0"/>
      <dgm:spPr/>
    </dgm:pt>
    <dgm:pt modelId="{47C3E7AA-91DD-4D1F-8721-4E29BAC8CD8C}" type="pres">
      <dgm:prSet presAssocID="{707B5B1B-4977-4B59-9939-D50C53FD40B9}" presName="bgRect" presStyleLbl="bgShp" presStyleIdx="0" presStyleCnt="4"/>
      <dgm:spPr/>
    </dgm:pt>
    <dgm:pt modelId="{8B0EBF7F-EFB7-4F74-977B-7BE9B00FD03F}" type="pres">
      <dgm:prSet presAssocID="{707B5B1B-4977-4B59-9939-D50C53FD40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3652AAE2-7F26-4395-9931-7244119434D5}" type="pres">
      <dgm:prSet presAssocID="{707B5B1B-4977-4B59-9939-D50C53FD40B9}" presName="spaceRect" presStyleCnt="0"/>
      <dgm:spPr/>
    </dgm:pt>
    <dgm:pt modelId="{D7A2D033-07F6-449F-8B1B-D2EA6D9E3BE0}" type="pres">
      <dgm:prSet presAssocID="{707B5B1B-4977-4B59-9939-D50C53FD40B9}" presName="parTx" presStyleLbl="revTx" presStyleIdx="0" presStyleCnt="4">
        <dgm:presLayoutVars>
          <dgm:chMax val="0"/>
          <dgm:chPref val="0"/>
        </dgm:presLayoutVars>
      </dgm:prSet>
      <dgm:spPr/>
    </dgm:pt>
    <dgm:pt modelId="{DE3DD8EA-B2BF-4E5C-839B-754BF8F52543}" type="pres">
      <dgm:prSet presAssocID="{E649763D-437B-4D85-8513-6A2B1522FE90}" presName="sibTrans" presStyleCnt="0"/>
      <dgm:spPr/>
    </dgm:pt>
    <dgm:pt modelId="{EC825D61-A50A-47B0-84DF-D109E013E526}" type="pres">
      <dgm:prSet presAssocID="{FF9C9304-77A9-4453-8295-4DA83EE30982}" presName="compNode" presStyleCnt="0"/>
      <dgm:spPr/>
    </dgm:pt>
    <dgm:pt modelId="{C2C063BF-6CDD-4A8F-A2C0-0766C27B151B}" type="pres">
      <dgm:prSet presAssocID="{FF9C9304-77A9-4453-8295-4DA83EE30982}" presName="bgRect" presStyleLbl="bgShp" presStyleIdx="1" presStyleCnt="4"/>
      <dgm:spPr/>
    </dgm:pt>
    <dgm:pt modelId="{38B727DF-0BA0-4BD0-84BB-87B06A7D9BA5}" type="pres">
      <dgm:prSet presAssocID="{FF9C9304-77A9-4453-8295-4DA83EE309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4E9918-E836-4F7B-8C7A-259F9111CCFA}" type="pres">
      <dgm:prSet presAssocID="{FF9C9304-77A9-4453-8295-4DA83EE30982}" presName="spaceRect" presStyleCnt="0"/>
      <dgm:spPr/>
    </dgm:pt>
    <dgm:pt modelId="{35181543-C24C-41D3-B211-38821B3864D0}" type="pres">
      <dgm:prSet presAssocID="{FF9C9304-77A9-4453-8295-4DA83EE30982}" presName="parTx" presStyleLbl="revTx" presStyleIdx="1" presStyleCnt="4">
        <dgm:presLayoutVars>
          <dgm:chMax val="0"/>
          <dgm:chPref val="0"/>
        </dgm:presLayoutVars>
      </dgm:prSet>
      <dgm:spPr/>
    </dgm:pt>
    <dgm:pt modelId="{096EAB02-CBA7-4352-9EBB-57BF6141F355}" type="pres">
      <dgm:prSet presAssocID="{91C95432-60C9-4032-B9CF-26F105F838B3}" presName="sibTrans" presStyleCnt="0"/>
      <dgm:spPr/>
    </dgm:pt>
    <dgm:pt modelId="{9099AAE4-0BEC-4F04-B126-1BE78F11FB9A}" type="pres">
      <dgm:prSet presAssocID="{000DCD06-6D93-45A6-A4A2-F5EFDF905160}" presName="compNode" presStyleCnt="0"/>
      <dgm:spPr/>
    </dgm:pt>
    <dgm:pt modelId="{E16C6B58-91E8-400B-AAA8-56727D2CB354}" type="pres">
      <dgm:prSet presAssocID="{000DCD06-6D93-45A6-A4A2-F5EFDF905160}" presName="bgRect" presStyleLbl="bgShp" presStyleIdx="2" presStyleCnt="4"/>
      <dgm:spPr/>
    </dgm:pt>
    <dgm:pt modelId="{4955DF2F-019D-4077-8557-52562D2EC6EA}" type="pres">
      <dgm:prSet presAssocID="{000DCD06-6D93-45A6-A4A2-F5EFDF9051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78724A7B-8B34-4F88-8A62-4F865A0B0BE2}" type="pres">
      <dgm:prSet presAssocID="{000DCD06-6D93-45A6-A4A2-F5EFDF905160}" presName="spaceRect" presStyleCnt="0"/>
      <dgm:spPr/>
    </dgm:pt>
    <dgm:pt modelId="{91707D54-F0C0-462A-9CA1-17359518011F}" type="pres">
      <dgm:prSet presAssocID="{000DCD06-6D93-45A6-A4A2-F5EFDF905160}" presName="parTx" presStyleLbl="revTx" presStyleIdx="2" presStyleCnt="4">
        <dgm:presLayoutVars>
          <dgm:chMax val="0"/>
          <dgm:chPref val="0"/>
        </dgm:presLayoutVars>
      </dgm:prSet>
      <dgm:spPr/>
    </dgm:pt>
    <dgm:pt modelId="{0557C30A-3DA7-4FE8-9C43-0B6323DCB042}" type="pres">
      <dgm:prSet presAssocID="{8A0B7C7B-67AF-4A7F-A350-1A6564662481}" presName="sibTrans" presStyleCnt="0"/>
      <dgm:spPr/>
    </dgm:pt>
    <dgm:pt modelId="{B82E0A71-AA85-4B76-924A-C752EE8C523A}" type="pres">
      <dgm:prSet presAssocID="{6636DA56-6A19-41BE-A9A1-491ECC301AE6}" presName="compNode" presStyleCnt="0"/>
      <dgm:spPr/>
    </dgm:pt>
    <dgm:pt modelId="{7BCCB435-E88F-4BD5-B9BF-5228C3CF912C}" type="pres">
      <dgm:prSet presAssocID="{6636DA56-6A19-41BE-A9A1-491ECC301AE6}" presName="bgRect" presStyleLbl="bgShp" presStyleIdx="3" presStyleCnt="4"/>
      <dgm:spPr/>
    </dgm:pt>
    <dgm:pt modelId="{E0817566-FDED-4D76-B997-3A24F7FB04C5}" type="pres">
      <dgm:prSet presAssocID="{6636DA56-6A19-41BE-A9A1-491ECC301A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D43A759-973E-4C31-935F-769850DEF767}" type="pres">
      <dgm:prSet presAssocID="{6636DA56-6A19-41BE-A9A1-491ECC301AE6}" presName="spaceRect" presStyleCnt="0"/>
      <dgm:spPr/>
    </dgm:pt>
    <dgm:pt modelId="{09641E68-BF1E-4FFC-8906-1439BE721829}" type="pres">
      <dgm:prSet presAssocID="{6636DA56-6A19-41BE-A9A1-491ECC301A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EA25938-60AB-451B-9FFA-55DF5A5BC488}" srcId="{65A55B19-5E89-46E8-A2E7-DE34580D6E9D}" destId="{000DCD06-6D93-45A6-A4A2-F5EFDF905160}" srcOrd="2" destOrd="0" parTransId="{5E843592-EEF1-4A30-8E12-E0D1ABDC85CB}" sibTransId="{8A0B7C7B-67AF-4A7F-A350-1A6564662481}"/>
    <dgm:cxn modelId="{3C58E185-EF83-4044-819F-30D4D5B26276}" srcId="{65A55B19-5E89-46E8-A2E7-DE34580D6E9D}" destId="{FF9C9304-77A9-4453-8295-4DA83EE30982}" srcOrd="1" destOrd="0" parTransId="{57F1759A-CB5D-4764-B1FF-F33666748264}" sibTransId="{91C95432-60C9-4032-B9CF-26F105F838B3}"/>
    <dgm:cxn modelId="{097A32B0-3BA2-49AB-A012-674D571B19DF}" type="presOf" srcId="{65A55B19-5E89-46E8-A2E7-DE34580D6E9D}" destId="{B17AB96E-82A9-4E74-BB4B-4DB8A3F740DB}" srcOrd="0" destOrd="0" presId="urn:microsoft.com/office/officeart/2018/2/layout/IconVerticalSolidList"/>
    <dgm:cxn modelId="{13C386B8-857C-4362-9828-4653A66E9B42}" type="presOf" srcId="{FF9C9304-77A9-4453-8295-4DA83EE30982}" destId="{35181543-C24C-41D3-B211-38821B3864D0}" srcOrd="0" destOrd="0" presId="urn:microsoft.com/office/officeart/2018/2/layout/IconVerticalSolidList"/>
    <dgm:cxn modelId="{52D4F9E4-DD78-44C4-879C-A2C9C158F5C1}" srcId="{65A55B19-5E89-46E8-A2E7-DE34580D6E9D}" destId="{707B5B1B-4977-4B59-9939-D50C53FD40B9}" srcOrd="0" destOrd="0" parTransId="{2603B7FE-8FD4-423F-9162-C79D3768ACD8}" sibTransId="{E649763D-437B-4D85-8513-6A2B1522FE90}"/>
    <dgm:cxn modelId="{AC0EF0EA-7537-4DDF-85D7-DA76238E64B6}" type="presOf" srcId="{707B5B1B-4977-4B59-9939-D50C53FD40B9}" destId="{D7A2D033-07F6-449F-8B1B-D2EA6D9E3BE0}" srcOrd="0" destOrd="0" presId="urn:microsoft.com/office/officeart/2018/2/layout/IconVerticalSolidList"/>
    <dgm:cxn modelId="{E2BA8AEF-192D-4F9D-944E-9562B6CD1F4B}" srcId="{65A55B19-5E89-46E8-A2E7-DE34580D6E9D}" destId="{6636DA56-6A19-41BE-A9A1-491ECC301AE6}" srcOrd="3" destOrd="0" parTransId="{544FA9D9-C856-434E-B75C-9CAE95C72CA4}" sibTransId="{789FC67E-D251-46C5-BF75-B18484CAFBE0}"/>
    <dgm:cxn modelId="{75E008FB-0F6D-41B3-90D4-F7CB6BF4E5B7}" type="presOf" srcId="{6636DA56-6A19-41BE-A9A1-491ECC301AE6}" destId="{09641E68-BF1E-4FFC-8906-1439BE721829}" srcOrd="0" destOrd="0" presId="urn:microsoft.com/office/officeart/2018/2/layout/IconVerticalSolidList"/>
    <dgm:cxn modelId="{FBC2DBFD-3EBD-4D39-8611-C60955C1B233}" type="presOf" srcId="{000DCD06-6D93-45A6-A4A2-F5EFDF905160}" destId="{91707D54-F0C0-462A-9CA1-17359518011F}" srcOrd="0" destOrd="0" presId="urn:microsoft.com/office/officeart/2018/2/layout/IconVerticalSolidList"/>
    <dgm:cxn modelId="{071B53AF-FD52-44E9-BFB8-DB6D58D7FE1F}" type="presParOf" srcId="{B17AB96E-82A9-4E74-BB4B-4DB8A3F740DB}" destId="{F00D6421-9C93-4B55-96AA-0FFC5BD6C4B6}" srcOrd="0" destOrd="0" presId="urn:microsoft.com/office/officeart/2018/2/layout/IconVerticalSolidList"/>
    <dgm:cxn modelId="{B3BA7F86-B234-45A6-926A-FFA535E77BF1}" type="presParOf" srcId="{F00D6421-9C93-4B55-96AA-0FFC5BD6C4B6}" destId="{47C3E7AA-91DD-4D1F-8721-4E29BAC8CD8C}" srcOrd="0" destOrd="0" presId="urn:microsoft.com/office/officeart/2018/2/layout/IconVerticalSolidList"/>
    <dgm:cxn modelId="{A12E645C-2419-43F4-B64E-628082692243}" type="presParOf" srcId="{F00D6421-9C93-4B55-96AA-0FFC5BD6C4B6}" destId="{8B0EBF7F-EFB7-4F74-977B-7BE9B00FD03F}" srcOrd="1" destOrd="0" presId="urn:microsoft.com/office/officeart/2018/2/layout/IconVerticalSolidList"/>
    <dgm:cxn modelId="{03A5E96B-E95A-460A-A8CF-B956F3CE8B70}" type="presParOf" srcId="{F00D6421-9C93-4B55-96AA-0FFC5BD6C4B6}" destId="{3652AAE2-7F26-4395-9931-7244119434D5}" srcOrd="2" destOrd="0" presId="urn:microsoft.com/office/officeart/2018/2/layout/IconVerticalSolidList"/>
    <dgm:cxn modelId="{0A5BFCED-B578-430F-9D59-D3BB46F5C482}" type="presParOf" srcId="{F00D6421-9C93-4B55-96AA-0FFC5BD6C4B6}" destId="{D7A2D033-07F6-449F-8B1B-D2EA6D9E3BE0}" srcOrd="3" destOrd="0" presId="urn:microsoft.com/office/officeart/2018/2/layout/IconVerticalSolidList"/>
    <dgm:cxn modelId="{31EDB56A-2A4F-493F-8CD9-DCFEB97512A0}" type="presParOf" srcId="{B17AB96E-82A9-4E74-BB4B-4DB8A3F740DB}" destId="{DE3DD8EA-B2BF-4E5C-839B-754BF8F52543}" srcOrd="1" destOrd="0" presId="urn:microsoft.com/office/officeart/2018/2/layout/IconVerticalSolidList"/>
    <dgm:cxn modelId="{CD065A6B-58BA-4C5E-96BB-57856E800143}" type="presParOf" srcId="{B17AB96E-82A9-4E74-BB4B-4DB8A3F740DB}" destId="{EC825D61-A50A-47B0-84DF-D109E013E526}" srcOrd="2" destOrd="0" presId="urn:microsoft.com/office/officeart/2018/2/layout/IconVerticalSolidList"/>
    <dgm:cxn modelId="{63BA2FF8-E699-43AA-9E0C-D0EA6ABCA373}" type="presParOf" srcId="{EC825D61-A50A-47B0-84DF-D109E013E526}" destId="{C2C063BF-6CDD-4A8F-A2C0-0766C27B151B}" srcOrd="0" destOrd="0" presId="urn:microsoft.com/office/officeart/2018/2/layout/IconVerticalSolidList"/>
    <dgm:cxn modelId="{206B271E-1831-4E8E-970C-BB1EAF33126D}" type="presParOf" srcId="{EC825D61-A50A-47B0-84DF-D109E013E526}" destId="{38B727DF-0BA0-4BD0-84BB-87B06A7D9BA5}" srcOrd="1" destOrd="0" presId="urn:microsoft.com/office/officeart/2018/2/layout/IconVerticalSolidList"/>
    <dgm:cxn modelId="{37115300-956D-4069-9E1E-0DEC84B8C628}" type="presParOf" srcId="{EC825D61-A50A-47B0-84DF-D109E013E526}" destId="{374E9918-E836-4F7B-8C7A-259F9111CCFA}" srcOrd="2" destOrd="0" presId="urn:microsoft.com/office/officeart/2018/2/layout/IconVerticalSolidList"/>
    <dgm:cxn modelId="{E6500E3C-1692-470F-9A46-73EFE80E7E32}" type="presParOf" srcId="{EC825D61-A50A-47B0-84DF-D109E013E526}" destId="{35181543-C24C-41D3-B211-38821B3864D0}" srcOrd="3" destOrd="0" presId="urn:microsoft.com/office/officeart/2018/2/layout/IconVerticalSolidList"/>
    <dgm:cxn modelId="{90384B9A-3C68-489B-9FA3-E1BA13345A7E}" type="presParOf" srcId="{B17AB96E-82A9-4E74-BB4B-4DB8A3F740DB}" destId="{096EAB02-CBA7-4352-9EBB-57BF6141F355}" srcOrd="3" destOrd="0" presId="urn:microsoft.com/office/officeart/2018/2/layout/IconVerticalSolidList"/>
    <dgm:cxn modelId="{9C943D36-EA61-4519-B561-9B7F1FA42785}" type="presParOf" srcId="{B17AB96E-82A9-4E74-BB4B-4DB8A3F740DB}" destId="{9099AAE4-0BEC-4F04-B126-1BE78F11FB9A}" srcOrd="4" destOrd="0" presId="urn:microsoft.com/office/officeart/2018/2/layout/IconVerticalSolidList"/>
    <dgm:cxn modelId="{C3771C70-AA74-4ACD-BAC0-E8B53F5EF217}" type="presParOf" srcId="{9099AAE4-0BEC-4F04-B126-1BE78F11FB9A}" destId="{E16C6B58-91E8-400B-AAA8-56727D2CB354}" srcOrd="0" destOrd="0" presId="urn:microsoft.com/office/officeart/2018/2/layout/IconVerticalSolidList"/>
    <dgm:cxn modelId="{5C344DF4-B01E-4210-9AE0-C7318EEC4184}" type="presParOf" srcId="{9099AAE4-0BEC-4F04-B126-1BE78F11FB9A}" destId="{4955DF2F-019D-4077-8557-52562D2EC6EA}" srcOrd="1" destOrd="0" presId="urn:microsoft.com/office/officeart/2018/2/layout/IconVerticalSolidList"/>
    <dgm:cxn modelId="{F049D72D-9393-47A4-90DB-10F0D38B9C0D}" type="presParOf" srcId="{9099AAE4-0BEC-4F04-B126-1BE78F11FB9A}" destId="{78724A7B-8B34-4F88-8A62-4F865A0B0BE2}" srcOrd="2" destOrd="0" presId="urn:microsoft.com/office/officeart/2018/2/layout/IconVerticalSolidList"/>
    <dgm:cxn modelId="{17918371-8D0F-47AD-8DD0-38B30B03B25B}" type="presParOf" srcId="{9099AAE4-0BEC-4F04-B126-1BE78F11FB9A}" destId="{91707D54-F0C0-462A-9CA1-17359518011F}" srcOrd="3" destOrd="0" presId="urn:microsoft.com/office/officeart/2018/2/layout/IconVerticalSolidList"/>
    <dgm:cxn modelId="{0996B29B-29C0-49DA-BFC9-7BD429EFC7B9}" type="presParOf" srcId="{B17AB96E-82A9-4E74-BB4B-4DB8A3F740DB}" destId="{0557C30A-3DA7-4FE8-9C43-0B6323DCB042}" srcOrd="5" destOrd="0" presId="urn:microsoft.com/office/officeart/2018/2/layout/IconVerticalSolidList"/>
    <dgm:cxn modelId="{EB7B6E14-C2F1-4114-AA05-97F11F503AF0}" type="presParOf" srcId="{B17AB96E-82A9-4E74-BB4B-4DB8A3F740DB}" destId="{B82E0A71-AA85-4B76-924A-C752EE8C523A}" srcOrd="6" destOrd="0" presId="urn:microsoft.com/office/officeart/2018/2/layout/IconVerticalSolidList"/>
    <dgm:cxn modelId="{4A8AD6C1-6F21-44FF-AD06-E29FF044AFB5}" type="presParOf" srcId="{B82E0A71-AA85-4B76-924A-C752EE8C523A}" destId="{7BCCB435-E88F-4BD5-B9BF-5228C3CF912C}" srcOrd="0" destOrd="0" presId="urn:microsoft.com/office/officeart/2018/2/layout/IconVerticalSolidList"/>
    <dgm:cxn modelId="{F9494800-F6DD-4B36-822E-F5A2FA39D32A}" type="presParOf" srcId="{B82E0A71-AA85-4B76-924A-C752EE8C523A}" destId="{E0817566-FDED-4D76-B997-3A24F7FB04C5}" srcOrd="1" destOrd="0" presId="urn:microsoft.com/office/officeart/2018/2/layout/IconVerticalSolidList"/>
    <dgm:cxn modelId="{22062993-5D54-4AEF-8414-C240CD0CE857}" type="presParOf" srcId="{B82E0A71-AA85-4B76-924A-C752EE8C523A}" destId="{9D43A759-973E-4C31-935F-769850DEF767}" srcOrd="2" destOrd="0" presId="urn:microsoft.com/office/officeart/2018/2/layout/IconVerticalSolidList"/>
    <dgm:cxn modelId="{F1E162CC-F26C-4134-9F1F-DFB17111F2C7}" type="presParOf" srcId="{B82E0A71-AA85-4B76-924A-C752EE8C523A}" destId="{09641E68-BF1E-4FFC-8906-1439BE7218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65587-41C0-4DF5-B17E-75DA0BDB70F4}">
      <dsp:nvSpPr>
        <dsp:cNvPr id="0" name=""/>
        <dsp:cNvSpPr/>
      </dsp:nvSpPr>
      <dsp:spPr>
        <a:xfrm>
          <a:off x="1801591" y="0"/>
          <a:ext cx="1509048" cy="13054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404EE-DD7A-4EE3-AE1A-89C3B4D86597}">
      <dsp:nvSpPr>
        <dsp:cNvPr id="0" name=""/>
        <dsp:cNvSpPr/>
      </dsp:nvSpPr>
      <dsp:spPr>
        <a:xfrm>
          <a:off x="400332" y="1460232"/>
          <a:ext cx="4311566" cy="559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Variables</a:t>
          </a:r>
          <a:endParaRPr lang="en-US" sz="3600" u="sng" kern="1200" dirty="0"/>
        </a:p>
      </dsp:txBody>
      <dsp:txXfrm>
        <a:off x="400332" y="1460232"/>
        <a:ext cx="4311566" cy="559477"/>
      </dsp:txXfrm>
    </dsp:sp>
    <dsp:sp modelId="{B99B8FB8-9F12-46C5-9E6F-10717C844B91}">
      <dsp:nvSpPr>
        <dsp:cNvPr id="0" name=""/>
        <dsp:cNvSpPr/>
      </dsp:nvSpPr>
      <dsp:spPr>
        <a:xfrm>
          <a:off x="400332" y="2091702"/>
          <a:ext cx="4311566" cy="2073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- Object count N </a:t>
          </a:r>
          <a:r>
            <a:rPr lang="en-US" sz="1700" kern="1200" dirty="0"/>
            <a:t>∈ {100, 500, 1000, 5000, 10000}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- Mesh complexity: </a:t>
          </a:r>
          <a:r>
            <a:rPr lang="en-US" sz="1700" kern="1200" dirty="0"/>
            <a:t>Low (112), Mid (1 740), High (19 800 tris)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- Mode: </a:t>
          </a:r>
          <a:r>
            <a:rPr lang="en-US" sz="1700" kern="1200" dirty="0"/>
            <a:t>Baseline, GPU Instancing, Static Batching (3×5×3 = 45 cells × 3 repeats)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400332" y="2091702"/>
        <a:ext cx="4311566" cy="2073389"/>
      </dsp:txXfrm>
    </dsp:sp>
    <dsp:sp modelId="{676902CC-466E-42F9-8A6F-1DD8AA9475A3}">
      <dsp:nvSpPr>
        <dsp:cNvPr id="0" name=""/>
        <dsp:cNvSpPr/>
      </dsp:nvSpPr>
      <dsp:spPr>
        <a:xfrm>
          <a:off x="6867682" y="0"/>
          <a:ext cx="1509048" cy="13054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E64D5-EFB3-4081-8407-AEF28C450AAF}">
      <dsp:nvSpPr>
        <dsp:cNvPr id="0" name=""/>
        <dsp:cNvSpPr/>
      </dsp:nvSpPr>
      <dsp:spPr>
        <a:xfrm>
          <a:off x="5466423" y="1460232"/>
          <a:ext cx="4311566" cy="559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Metrics Captured</a:t>
          </a:r>
          <a:endParaRPr lang="en-US" sz="3600" u="sng" kern="1200" dirty="0"/>
        </a:p>
      </dsp:txBody>
      <dsp:txXfrm>
        <a:off x="5466423" y="1460232"/>
        <a:ext cx="4311566" cy="559477"/>
      </dsp:txXfrm>
    </dsp:sp>
    <dsp:sp modelId="{A2080BDE-A142-4FDE-BD02-1D5CD7900EC7}">
      <dsp:nvSpPr>
        <dsp:cNvPr id="0" name=""/>
        <dsp:cNvSpPr/>
      </dsp:nvSpPr>
      <dsp:spPr>
        <a:xfrm>
          <a:off x="5466423" y="2091702"/>
          <a:ext cx="4311566" cy="2073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- FPS &amp; frame time</a:t>
          </a:r>
          <a:r>
            <a:rPr lang="en-US" sz="1700" kern="1200" dirty="0"/>
            <a:t> : wall-clock vs. GPU (</a:t>
          </a:r>
          <a:r>
            <a:rPr lang="en-US" sz="1700" kern="1200" dirty="0" err="1"/>
            <a:t>FrameTimingManager</a:t>
          </a:r>
          <a:r>
            <a:rPr lang="en-US" sz="1700" kern="1200" dirty="0"/>
            <a:t>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Draw-call batches :</a:t>
          </a:r>
          <a:r>
            <a:rPr lang="en-US" sz="1700" b="0" i="0" kern="1200" dirty="0"/>
            <a:t> Unity </a:t>
          </a:r>
          <a:r>
            <a:rPr lang="en-US" sz="1700" b="0" i="0" kern="1200" dirty="0" err="1"/>
            <a:t>ProfilerRecorder</a:t>
          </a:r>
          <a:r>
            <a:rPr lang="en-US" sz="1700" b="0" i="0" kern="1200" dirty="0"/>
            <a:t> (Batches Count); theoretical formula substituted when Metal returns 0</a:t>
          </a:r>
          <a:endParaRPr lang="en-US" sz="1700" b="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- Total reserved memory</a:t>
          </a:r>
          <a:r>
            <a:rPr lang="en-US" sz="1700" kern="1200" dirty="0"/>
            <a:t>: </a:t>
          </a:r>
          <a:r>
            <a:rPr lang="en-US" sz="1700" kern="1200" dirty="0" err="1"/>
            <a:t>Profiler.GetTotalReservedMemoryLong</a:t>
          </a:r>
          <a:r>
            <a:rPr lang="en-US" sz="1700" kern="1200" dirty="0"/>
            <a:t>()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- Per cell: </a:t>
          </a:r>
          <a:r>
            <a:rPr lang="en-US" sz="1700" b="0" i="0" kern="1200" dirty="0"/>
            <a:t>3 s warm-up discarded, then 30 s measurement window (×3 repeats = 135 windows)</a:t>
          </a:r>
          <a:endParaRPr lang="en-US" sz="1700" b="0" kern="1200" dirty="0"/>
        </a:p>
      </dsp:txBody>
      <dsp:txXfrm>
        <a:off x="5466423" y="2091702"/>
        <a:ext cx="4311566" cy="2073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3E7AA-91DD-4D1F-8721-4E29BAC8CD8C}">
      <dsp:nvSpPr>
        <dsp:cNvPr id="0" name=""/>
        <dsp:cNvSpPr/>
      </dsp:nvSpPr>
      <dsp:spPr>
        <a:xfrm>
          <a:off x="0" y="1722"/>
          <a:ext cx="10303329" cy="873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EBF7F-EFB7-4F74-977B-7BE9B00FD03F}">
      <dsp:nvSpPr>
        <dsp:cNvPr id="0" name=""/>
        <dsp:cNvSpPr/>
      </dsp:nvSpPr>
      <dsp:spPr>
        <a:xfrm>
          <a:off x="264116" y="198172"/>
          <a:ext cx="480211" cy="4802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2D033-07F6-449F-8B1B-D2EA6D9E3BE0}">
      <dsp:nvSpPr>
        <dsp:cNvPr id="0" name=""/>
        <dsp:cNvSpPr/>
      </dsp:nvSpPr>
      <dsp:spPr>
        <a:xfrm>
          <a:off x="1008444" y="1722"/>
          <a:ext cx="9294884" cy="87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4" tIns="92404" rIns="92404" bIns="9240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GPU Instancing scales best.</a:t>
          </a:r>
          <a:r>
            <a:rPr lang="en-US" sz="2200" kern="1200" dirty="0"/>
            <a:t> Constant batch count (≤21) regardless of N; 2.6× FPS gain at N=10,000 high-poly.</a:t>
          </a:r>
        </a:p>
      </dsp:txBody>
      <dsp:txXfrm>
        <a:off x="1008444" y="1722"/>
        <a:ext cx="9294884" cy="873111"/>
      </dsp:txXfrm>
    </dsp:sp>
    <dsp:sp modelId="{C2C063BF-6CDD-4A8F-A2C0-0766C27B151B}">
      <dsp:nvSpPr>
        <dsp:cNvPr id="0" name=""/>
        <dsp:cNvSpPr/>
      </dsp:nvSpPr>
      <dsp:spPr>
        <a:xfrm>
          <a:off x="0" y="1093112"/>
          <a:ext cx="10303329" cy="873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727DF-0BA0-4BD0-84BB-87B06A7D9BA5}">
      <dsp:nvSpPr>
        <dsp:cNvPr id="0" name=""/>
        <dsp:cNvSpPr/>
      </dsp:nvSpPr>
      <dsp:spPr>
        <a:xfrm>
          <a:off x="264116" y="1289562"/>
          <a:ext cx="480211" cy="4802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81543-C24C-41D3-B211-38821B3864D0}">
      <dsp:nvSpPr>
        <dsp:cNvPr id="0" name=""/>
        <dsp:cNvSpPr/>
      </dsp:nvSpPr>
      <dsp:spPr>
        <a:xfrm>
          <a:off x="1008444" y="1093112"/>
          <a:ext cx="9294884" cy="87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4" tIns="92404" rIns="92404" bIns="9240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Static Batching has hidden costs.</a:t>
          </a:r>
          <a:r>
            <a:rPr lang="en-US" sz="2200" kern="1200" dirty="0"/>
            <a:t> 6.2 GB memory at high-poly; vertex cap forces re-batching as mesh size grows.</a:t>
          </a:r>
        </a:p>
      </dsp:txBody>
      <dsp:txXfrm>
        <a:off x="1008444" y="1093112"/>
        <a:ext cx="9294884" cy="873111"/>
      </dsp:txXfrm>
    </dsp:sp>
    <dsp:sp modelId="{E16C6B58-91E8-400B-AAA8-56727D2CB354}">
      <dsp:nvSpPr>
        <dsp:cNvPr id="0" name=""/>
        <dsp:cNvSpPr/>
      </dsp:nvSpPr>
      <dsp:spPr>
        <a:xfrm>
          <a:off x="0" y="2184501"/>
          <a:ext cx="10303329" cy="873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5DF2F-019D-4077-8557-52562D2EC6EA}">
      <dsp:nvSpPr>
        <dsp:cNvPr id="0" name=""/>
        <dsp:cNvSpPr/>
      </dsp:nvSpPr>
      <dsp:spPr>
        <a:xfrm>
          <a:off x="264116" y="2380952"/>
          <a:ext cx="480211" cy="4802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07D54-F0C0-462A-9CA1-17359518011F}">
      <dsp:nvSpPr>
        <dsp:cNvPr id="0" name=""/>
        <dsp:cNvSpPr/>
      </dsp:nvSpPr>
      <dsp:spPr>
        <a:xfrm>
          <a:off x="1008444" y="2184501"/>
          <a:ext cx="9294884" cy="87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4" tIns="92404" rIns="92404" bIns="9240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Bottleneck shifts with mesh complexity.</a:t>
          </a:r>
          <a:r>
            <a:rPr lang="en-US" sz="2200" kern="1200"/>
            <a:t> Low/Mid-poly: CPU-bound (batching wins). High-poly: GPU-bound (batching gains plateau).</a:t>
          </a:r>
        </a:p>
      </dsp:txBody>
      <dsp:txXfrm>
        <a:off x="1008444" y="2184501"/>
        <a:ext cx="9294884" cy="873111"/>
      </dsp:txXfrm>
    </dsp:sp>
    <dsp:sp modelId="{7BCCB435-E88F-4BD5-B9BF-5228C3CF912C}">
      <dsp:nvSpPr>
        <dsp:cNvPr id="0" name=""/>
        <dsp:cNvSpPr/>
      </dsp:nvSpPr>
      <dsp:spPr>
        <a:xfrm>
          <a:off x="0" y="3275891"/>
          <a:ext cx="10303329" cy="8731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817566-FDED-4D76-B997-3A24F7FB04C5}">
      <dsp:nvSpPr>
        <dsp:cNvPr id="0" name=""/>
        <dsp:cNvSpPr/>
      </dsp:nvSpPr>
      <dsp:spPr>
        <a:xfrm>
          <a:off x="264116" y="3472341"/>
          <a:ext cx="480211" cy="4802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41E68-BF1E-4FFC-8906-1439BE721829}">
      <dsp:nvSpPr>
        <dsp:cNvPr id="0" name=""/>
        <dsp:cNvSpPr/>
      </dsp:nvSpPr>
      <dsp:spPr>
        <a:xfrm>
          <a:off x="1008444" y="3275891"/>
          <a:ext cx="9294884" cy="873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4" tIns="92404" rIns="92404" bIns="9240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Recommendation:</a:t>
          </a:r>
          <a:r>
            <a:rPr lang="en-US" sz="2200" kern="1200" dirty="0"/>
            <a:t> Default to GPU Instancing for repeated meshes; reserve Static Batching for small, light scenes.</a:t>
          </a:r>
        </a:p>
      </dsp:txBody>
      <dsp:txXfrm>
        <a:off x="1008444" y="3275891"/>
        <a:ext cx="9294884" cy="8731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B4AF4-C129-DF4C-8865-5E163C2CB153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2F624-52E8-DA4E-8175-985F233580C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251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2F624-52E8-DA4E-8175-985F233580CC}" type="slidenum">
              <a:rPr lang="en-TR" smtClean="0"/>
              <a:t>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13362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702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38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64142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195674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39359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1813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8224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3002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2524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2746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5550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2AEFDF2-7FD6-DB43-B4FD-39F6E01B5D97}" type="datetimeFigureOut">
              <a:rPr lang="en-TR" smtClean="0"/>
              <a:t>11.05.2026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4BD8A34-BC2D-664C-804F-54FEB920B11A}" type="slidenum">
              <a:rPr lang="en-TR" smtClean="0"/>
              <a:t>‹#›</a:t>
            </a:fld>
            <a:endParaRPr lang="en-T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122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drive.google.com/file/d/1BxELsNZe8aG59iXXfvFj2ZmJgLVN-Sej/view?usp=sharing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BAC12-0570-024D-0434-3B8CA426E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257" y="0"/>
            <a:ext cx="9031484" cy="3467282"/>
          </a:xfrm>
        </p:spPr>
        <p:txBody>
          <a:bodyPr anchor="b">
            <a:normAutofit/>
          </a:bodyPr>
          <a:lstStyle/>
          <a:p>
            <a:pPr>
              <a:buNone/>
            </a:pPr>
            <a:r>
              <a:rPr lang="en-US" sz="5600" b="1" dirty="0">
                <a:solidFill>
                  <a:schemeClr val="accent2"/>
                </a:solidFill>
              </a:rPr>
              <a:t>GPU Instancing &amp; Draw Call Optimization in Unity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80E68-71EA-6235-BFEC-EB0B925EC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6656" y="4527187"/>
            <a:ext cx="10118686" cy="1087038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dirty="0">
                <a:solidFill>
                  <a:srgbClr val="2A1A00"/>
                </a:solidFill>
              </a:rPr>
              <a:t>CMPE 485 Term Project</a:t>
            </a:r>
            <a:r>
              <a:rPr lang="en-US" sz="1800" dirty="0">
                <a:solidFill>
                  <a:srgbClr val="2A1A00"/>
                </a:solidFill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en-US" sz="1800" b="1" dirty="0">
                <a:solidFill>
                  <a:srgbClr val="2A1A00"/>
                </a:solidFill>
              </a:rPr>
              <a:t>Option A (Single Challenge)</a:t>
            </a:r>
            <a:r>
              <a:rPr lang="en-US" sz="1800" dirty="0">
                <a:solidFill>
                  <a:srgbClr val="2A1A00"/>
                </a:solidFill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2A1A00"/>
                </a:solidFill>
              </a:rPr>
              <a:t>Eray </a:t>
            </a:r>
            <a:r>
              <a:rPr lang="en-US" sz="1800" dirty="0" err="1">
                <a:solidFill>
                  <a:srgbClr val="2A1A00"/>
                </a:solidFill>
              </a:rPr>
              <a:t>Yüklü</a:t>
            </a:r>
            <a:endParaRPr lang="en-US" sz="1800" dirty="0">
              <a:solidFill>
                <a:srgbClr val="2A1A00"/>
              </a:solidFill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2A1A00"/>
              </a:solidFill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2A1A0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i="1" dirty="0">
                <a:solidFill>
                  <a:srgbClr val="2A1A00"/>
                </a:solidFill>
              </a:rPr>
              <a:t>Measuring how draw-call batching strategies hold up as object count and mesh complexity grow on Apple Silicon Metal.</a:t>
            </a:r>
          </a:p>
        </p:txBody>
      </p:sp>
    </p:spTree>
    <p:extLst>
      <p:ext uri="{BB962C8B-B14F-4D97-AF65-F5344CB8AC3E}">
        <p14:creationId xmlns:p14="http://schemas.microsoft.com/office/powerpoint/2010/main" val="4065794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AD9B-E92D-0392-0F89-AA5F7B7B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4715" y="284414"/>
            <a:ext cx="6911613" cy="14921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Calibri"/>
              </a:rPr>
              <a:t>Why Batching Matters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A285425A-4C2D-67D3-8DC8-8F7BDC530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45" r="14015"/>
          <a:stretch>
            <a:fillRect/>
          </a:stretch>
        </p:blipFill>
        <p:spPr>
          <a:xfrm>
            <a:off x="202447" y="-9525"/>
            <a:ext cx="4129822" cy="6867525"/>
          </a:xfrm>
          <a:prstGeom prst="rect">
            <a:avLst/>
          </a:pr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18E8C5BB-A90A-496B-A745-79A49F350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78F1-C662-C9DB-2E60-F7F055C5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715" y="2041072"/>
            <a:ext cx="7657284" cy="3593591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Every draw call is a CPU cost.</a:t>
            </a:r>
            <a:r>
              <a:rPr lang="en-US" dirty="0">
                <a:latin typeface="Calibri"/>
              </a:rPr>
              <a:t> Modern scenes can issue thousands per frame.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CPU-bound rendering caps frame rate</a:t>
            </a:r>
            <a:r>
              <a:rPr lang="en-US" dirty="0">
                <a:latin typeface="Calibri"/>
              </a:rPr>
              <a:t> long before the GPU is saturated.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Unity exposes two main remedies:</a:t>
            </a:r>
            <a:r>
              <a:rPr lang="en-US" dirty="0">
                <a:latin typeface="Calibri"/>
              </a:rPr>
              <a:t> GPU Instancing and Static Batching.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Calibri"/>
              </a:rPr>
              <a:t>Each carries different </a:t>
            </a:r>
            <a:r>
              <a:rPr lang="en-US" b="1" dirty="0">
                <a:latin typeface="Calibri"/>
              </a:rPr>
              <a:t>cost, memory, and flexibility trade-offs.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Calibri"/>
              </a:rPr>
              <a:t>This project </a:t>
            </a:r>
            <a:r>
              <a:rPr lang="en-US" b="1" dirty="0">
                <a:latin typeface="Calibri"/>
              </a:rPr>
              <a:t>quantifies</a:t>
            </a:r>
            <a:r>
              <a:rPr lang="en-US" dirty="0">
                <a:latin typeface="Calibri"/>
              </a:rPr>
              <a:t> those trade-offs on a real Unity build.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i="1" dirty="0">
                <a:latin typeface="Calibri"/>
              </a:rPr>
              <a:t>Foundational reference: Pranckevičius, A. (2015). “Rendering Optimisation in Unity.”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63B47-914A-418A-BA06-1B760F27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0F166-0DB7-5036-6A21-D11FC5AA8019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67866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77D789-9DE0-43A3-B196-F13CFECFA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BCDAC-6FCD-2476-E499-225977333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Calibri"/>
              </a:rPr>
              <a:t>Experiment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BC648B-BC3C-4674-B1FD-2F9F1C6D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17B0-EE6E-A23C-79FF-63880DC3D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35935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b="1" dirty="0">
                <a:latin typeface="Calibri"/>
              </a:rPr>
              <a:t>A controlled 3 × 3 × 5 sweep, repeated 3×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Rendering mode:</a:t>
            </a:r>
            <a:r>
              <a:rPr lang="en-US" dirty="0">
                <a:latin typeface="Calibri"/>
              </a:rPr>
              <a:t> Baseline   |   GPU Instancing   |   Static Batching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Mesh complexity:</a:t>
            </a:r>
            <a:r>
              <a:rPr lang="en-US" dirty="0">
                <a:latin typeface="Calibri"/>
              </a:rPr>
              <a:t> Low-poly (112 tris)  |  Mid-poly (1,740)  |  High-poly (19,800)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Object count N:</a:t>
            </a:r>
            <a:r>
              <a:rPr lang="en-US" dirty="0">
                <a:latin typeface="Calibri"/>
              </a:rPr>
              <a:t> 100,  500,  1 000,  5 000,  10 000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Per cell:</a:t>
            </a:r>
            <a:r>
              <a:rPr lang="en-US" dirty="0">
                <a:latin typeface="Calibri"/>
              </a:rPr>
              <a:t> 3 repeats with mean ± 1σ reporting → </a:t>
            </a:r>
            <a:r>
              <a:rPr lang="en-US" b="1" dirty="0">
                <a:latin typeface="Calibri"/>
              </a:rPr>
              <a:t>135 configurations</a:t>
            </a: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b="1" dirty="0">
                <a:latin typeface="Calibri"/>
              </a:rPr>
              <a:t>Recorded:</a:t>
            </a:r>
            <a:r>
              <a:rPr lang="en-US" dirty="0">
                <a:latin typeface="Calibri"/>
              </a:rPr>
              <a:t> FPS, wall-clock + GPU frame time, draw call batches, reserved memory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4CDAD-81BA-EC8C-2974-67B7CD647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91" r="39997" b="1"/>
          <a:stretch>
            <a:fillRect/>
          </a:stretch>
        </p:blipFill>
        <p:spPr>
          <a:xfrm>
            <a:off x="7389812" y="10"/>
            <a:ext cx="4802188" cy="6857990"/>
          </a:xfrm>
          <a:custGeom>
            <a:avLst/>
            <a:gdLst/>
            <a:ahLst/>
            <a:cxnLst/>
            <a:rect l="l" t="t" r="r" b="b"/>
            <a:pathLst>
              <a:path w="4802188" h="6858000">
                <a:moveTo>
                  <a:pt x="0" y="0"/>
                </a:moveTo>
                <a:lnTo>
                  <a:pt x="4802188" y="0"/>
                </a:lnTo>
                <a:lnTo>
                  <a:pt x="4802188" y="6858000"/>
                </a:lnTo>
                <a:lnTo>
                  <a:pt x="0" y="6858000"/>
                </a:lnTo>
                <a:lnTo>
                  <a:pt x="4763" y="6791325"/>
                </a:lnTo>
                <a:lnTo>
                  <a:pt x="12700" y="6735762"/>
                </a:lnTo>
                <a:lnTo>
                  <a:pt x="22225" y="6683375"/>
                </a:lnTo>
                <a:lnTo>
                  <a:pt x="38100" y="6640512"/>
                </a:lnTo>
                <a:lnTo>
                  <a:pt x="53975" y="6597650"/>
                </a:lnTo>
                <a:lnTo>
                  <a:pt x="73025" y="6561137"/>
                </a:lnTo>
                <a:lnTo>
                  <a:pt x="92075" y="6523037"/>
                </a:lnTo>
                <a:lnTo>
                  <a:pt x="109538" y="6488112"/>
                </a:lnTo>
                <a:lnTo>
                  <a:pt x="127000" y="6448425"/>
                </a:lnTo>
                <a:lnTo>
                  <a:pt x="142875" y="6407150"/>
                </a:lnTo>
                <a:lnTo>
                  <a:pt x="157163" y="6361112"/>
                </a:lnTo>
                <a:lnTo>
                  <a:pt x="168275" y="6311900"/>
                </a:lnTo>
                <a:lnTo>
                  <a:pt x="176213" y="6251575"/>
                </a:lnTo>
                <a:lnTo>
                  <a:pt x="179388" y="6183312"/>
                </a:lnTo>
                <a:lnTo>
                  <a:pt x="176213" y="6113462"/>
                </a:lnTo>
                <a:lnTo>
                  <a:pt x="168275" y="6056312"/>
                </a:lnTo>
                <a:lnTo>
                  <a:pt x="157163" y="6003925"/>
                </a:lnTo>
                <a:lnTo>
                  <a:pt x="142875" y="5956300"/>
                </a:lnTo>
                <a:lnTo>
                  <a:pt x="127000" y="5915025"/>
                </a:lnTo>
                <a:lnTo>
                  <a:pt x="107950" y="5876925"/>
                </a:lnTo>
                <a:lnTo>
                  <a:pt x="88900" y="5840412"/>
                </a:lnTo>
                <a:lnTo>
                  <a:pt x="69850" y="5802312"/>
                </a:lnTo>
                <a:lnTo>
                  <a:pt x="52388" y="5762625"/>
                </a:lnTo>
                <a:lnTo>
                  <a:pt x="34925" y="5721350"/>
                </a:lnTo>
                <a:lnTo>
                  <a:pt x="20638" y="5675312"/>
                </a:lnTo>
                <a:lnTo>
                  <a:pt x="11113" y="5622925"/>
                </a:lnTo>
                <a:lnTo>
                  <a:pt x="1588" y="5562600"/>
                </a:lnTo>
                <a:lnTo>
                  <a:pt x="0" y="5494337"/>
                </a:lnTo>
                <a:lnTo>
                  <a:pt x="1588" y="5426075"/>
                </a:lnTo>
                <a:lnTo>
                  <a:pt x="11113" y="5365750"/>
                </a:lnTo>
                <a:lnTo>
                  <a:pt x="20638" y="5313362"/>
                </a:lnTo>
                <a:lnTo>
                  <a:pt x="34925" y="5268912"/>
                </a:lnTo>
                <a:lnTo>
                  <a:pt x="52388" y="5226050"/>
                </a:lnTo>
                <a:lnTo>
                  <a:pt x="69850" y="5186362"/>
                </a:lnTo>
                <a:lnTo>
                  <a:pt x="88900" y="5149850"/>
                </a:lnTo>
                <a:lnTo>
                  <a:pt x="107950" y="5114925"/>
                </a:lnTo>
                <a:lnTo>
                  <a:pt x="127000" y="5075237"/>
                </a:lnTo>
                <a:lnTo>
                  <a:pt x="142875" y="5033962"/>
                </a:lnTo>
                <a:lnTo>
                  <a:pt x="157163" y="4987925"/>
                </a:lnTo>
                <a:lnTo>
                  <a:pt x="168275" y="4935537"/>
                </a:lnTo>
                <a:lnTo>
                  <a:pt x="176213" y="4875212"/>
                </a:lnTo>
                <a:lnTo>
                  <a:pt x="179388" y="4806950"/>
                </a:lnTo>
                <a:lnTo>
                  <a:pt x="176213" y="4738687"/>
                </a:lnTo>
                <a:lnTo>
                  <a:pt x="168275" y="4678362"/>
                </a:lnTo>
                <a:lnTo>
                  <a:pt x="157163" y="4625975"/>
                </a:lnTo>
                <a:lnTo>
                  <a:pt x="142875" y="4579937"/>
                </a:lnTo>
                <a:lnTo>
                  <a:pt x="127000" y="4537075"/>
                </a:lnTo>
                <a:lnTo>
                  <a:pt x="107950" y="4498975"/>
                </a:lnTo>
                <a:lnTo>
                  <a:pt x="69850" y="4424362"/>
                </a:lnTo>
                <a:lnTo>
                  <a:pt x="52388" y="4386262"/>
                </a:lnTo>
                <a:lnTo>
                  <a:pt x="34925" y="4343400"/>
                </a:lnTo>
                <a:lnTo>
                  <a:pt x="20638" y="4297362"/>
                </a:lnTo>
                <a:lnTo>
                  <a:pt x="11113" y="4244975"/>
                </a:lnTo>
                <a:lnTo>
                  <a:pt x="1588" y="4186237"/>
                </a:lnTo>
                <a:lnTo>
                  <a:pt x="0" y="4116387"/>
                </a:lnTo>
                <a:lnTo>
                  <a:pt x="1588" y="4048125"/>
                </a:lnTo>
                <a:lnTo>
                  <a:pt x="11113" y="3987800"/>
                </a:lnTo>
                <a:lnTo>
                  <a:pt x="20638" y="3935412"/>
                </a:lnTo>
                <a:lnTo>
                  <a:pt x="34925" y="3890962"/>
                </a:lnTo>
                <a:lnTo>
                  <a:pt x="52388" y="3848100"/>
                </a:lnTo>
                <a:lnTo>
                  <a:pt x="69850" y="3811587"/>
                </a:lnTo>
                <a:lnTo>
                  <a:pt x="107950" y="3736975"/>
                </a:lnTo>
                <a:lnTo>
                  <a:pt x="127000" y="3697287"/>
                </a:lnTo>
                <a:lnTo>
                  <a:pt x="142875" y="3656012"/>
                </a:lnTo>
                <a:lnTo>
                  <a:pt x="157163" y="3609975"/>
                </a:lnTo>
                <a:lnTo>
                  <a:pt x="168275" y="3557587"/>
                </a:lnTo>
                <a:lnTo>
                  <a:pt x="176213" y="3497262"/>
                </a:lnTo>
                <a:lnTo>
                  <a:pt x="179388" y="3427412"/>
                </a:lnTo>
                <a:lnTo>
                  <a:pt x="176213" y="3360737"/>
                </a:lnTo>
                <a:lnTo>
                  <a:pt x="168275" y="3300412"/>
                </a:lnTo>
                <a:lnTo>
                  <a:pt x="157163" y="3248025"/>
                </a:lnTo>
                <a:lnTo>
                  <a:pt x="142875" y="3201987"/>
                </a:lnTo>
                <a:lnTo>
                  <a:pt x="127000" y="3160712"/>
                </a:lnTo>
                <a:lnTo>
                  <a:pt x="107950" y="3121025"/>
                </a:lnTo>
                <a:lnTo>
                  <a:pt x="88900" y="3084512"/>
                </a:lnTo>
                <a:lnTo>
                  <a:pt x="69850" y="3046412"/>
                </a:lnTo>
                <a:lnTo>
                  <a:pt x="52388" y="3009900"/>
                </a:lnTo>
                <a:lnTo>
                  <a:pt x="34925" y="2967037"/>
                </a:lnTo>
                <a:lnTo>
                  <a:pt x="20638" y="2922587"/>
                </a:lnTo>
                <a:lnTo>
                  <a:pt x="11113" y="2868612"/>
                </a:lnTo>
                <a:lnTo>
                  <a:pt x="1588" y="2809875"/>
                </a:lnTo>
                <a:lnTo>
                  <a:pt x="0" y="2741612"/>
                </a:lnTo>
                <a:lnTo>
                  <a:pt x="1588" y="2671762"/>
                </a:lnTo>
                <a:lnTo>
                  <a:pt x="11113" y="2613025"/>
                </a:lnTo>
                <a:lnTo>
                  <a:pt x="20638" y="2560637"/>
                </a:lnTo>
                <a:lnTo>
                  <a:pt x="34925" y="2513012"/>
                </a:lnTo>
                <a:lnTo>
                  <a:pt x="52388" y="2471737"/>
                </a:lnTo>
                <a:lnTo>
                  <a:pt x="69850" y="2433637"/>
                </a:lnTo>
                <a:lnTo>
                  <a:pt x="88900" y="2395537"/>
                </a:lnTo>
                <a:lnTo>
                  <a:pt x="107950" y="2359025"/>
                </a:lnTo>
                <a:lnTo>
                  <a:pt x="127000" y="2319337"/>
                </a:lnTo>
                <a:lnTo>
                  <a:pt x="142875" y="2278062"/>
                </a:lnTo>
                <a:lnTo>
                  <a:pt x="157163" y="2232025"/>
                </a:lnTo>
                <a:lnTo>
                  <a:pt x="168275" y="2179637"/>
                </a:lnTo>
                <a:lnTo>
                  <a:pt x="176213" y="2119312"/>
                </a:lnTo>
                <a:lnTo>
                  <a:pt x="179388" y="2051050"/>
                </a:lnTo>
                <a:lnTo>
                  <a:pt x="176213" y="1982787"/>
                </a:lnTo>
                <a:lnTo>
                  <a:pt x="168275" y="1922462"/>
                </a:lnTo>
                <a:lnTo>
                  <a:pt x="157163" y="1870075"/>
                </a:lnTo>
                <a:lnTo>
                  <a:pt x="142875" y="1824037"/>
                </a:lnTo>
                <a:lnTo>
                  <a:pt x="127000" y="1782762"/>
                </a:lnTo>
                <a:lnTo>
                  <a:pt x="107950" y="1743075"/>
                </a:lnTo>
                <a:lnTo>
                  <a:pt x="88900" y="1708150"/>
                </a:lnTo>
                <a:lnTo>
                  <a:pt x="69850" y="1671637"/>
                </a:lnTo>
                <a:lnTo>
                  <a:pt x="52388" y="1631950"/>
                </a:lnTo>
                <a:lnTo>
                  <a:pt x="34925" y="1589087"/>
                </a:lnTo>
                <a:lnTo>
                  <a:pt x="20638" y="1544637"/>
                </a:lnTo>
                <a:lnTo>
                  <a:pt x="11113" y="1492250"/>
                </a:lnTo>
                <a:lnTo>
                  <a:pt x="1588" y="1431925"/>
                </a:lnTo>
                <a:lnTo>
                  <a:pt x="0" y="1363662"/>
                </a:lnTo>
                <a:lnTo>
                  <a:pt x="1588" y="1295400"/>
                </a:lnTo>
                <a:lnTo>
                  <a:pt x="11113" y="1235075"/>
                </a:lnTo>
                <a:lnTo>
                  <a:pt x="20638" y="1182687"/>
                </a:lnTo>
                <a:lnTo>
                  <a:pt x="34925" y="1136650"/>
                </a:lnTo>
                <a:lnTo>
                  <a:pt x="52388" y="1095375"/>
                </a:lnTo>
                <a:lnTo>
                  <a:pt x="69850" y="1055687"/>
                </a:lnTo>
                <a:lnTo>
                  <a:pt x="88900" y="1017587"/>
                </a:lnTo>
                <a:lnTo>
                  <a:pt x="107950" y="981075"/>
                </a:lnTo>
                <a:lnTo>
                  <a:pt x="127000" y="942975"/>
                </a:lnTo>
                <a:lnTo>
                  <a:pt x="142875" y="901700"/>
                </a:lnTo>
                <a:lnTo>
                  <a:pt x="157163" y="854075"/>
                </a:lnTo>
                <a:lnTo>
                  <a:pt x="168275" y="801687"/>
                </a:lnTo>
                <a:lnTo>
                  <a:pt x="176213" y="744537"/>
                </a:lnTo>
                <a:lnTo>
                  <a:pt x="179388" y="673100"/>
                </a:lnTo>
                <a:lnTo>
                  <a:pt x="176213" y="606425"/>
                </a:lnTo>
                <a:lnTo>
                  <a:pt x="168275" y="546100"/>
                </a:lnTo>
                <a:lnTo>
                  <a:pt x="157163" y="496887"/>
                </a:lnTo>
                <a:lnTo>
                  <a:pt x="142875" y="450850"/>
                </a:lnTo>
                <a:lnTo>
                  <a:pt x="127000" y="409575"/>
                </a:lnTo>
                <a:lnTo>
                  <a:pt x="109538" y="369887"/>
                </a:lnTo>
                <a:lnTo>
                  <a:pt x="92075" y="334962"/>
                </a:lnTo>
                <a:lnTo>
                  <a:pt x="73025" y="296862"/>
                </a:lnTo>
                <a:lnTo>
                  <a:pt x="53975" y="260350"/>
                </a:lnTo>
                <a:lnTo>
                  <a:pt x="38100" y="217487"/>
                </a:lnTo>
                <a:lnTo>
                  <a:pt x="22225" y="174625"/>
                </a:lnTo>
                <a:lnTo>
                  <a:pt x="12700" y="122237"/>
                </a:lnTo>
                <a:lnTo>
                  <a:pt x="4763" y="66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888C36-1E84-4E06-8939-4983B8A2B82C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35794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2F3F-2086-AF97-914A-E5C845EC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2800" b="1" dirty="0">
                <a:latin typeface="Calibri"/>
              </a:rPr>
              <a:t>CPU Draw-Call Submission → GPU Vertex Throughput</a:t>
            </a:r>
          </a:p>
          <a:p>
            <a:pPr algn="l">
              <a:buNone/>
            </a:pPr>
            <a:r>
              <a:rPr lang="en-US" sz="2000" i="1" dirty="0">
                <a:solidFill>
                  <a:schemeClr val="accent2"/>
                </a:solidFill>
                <a:latin typeface="Calibri"/>
              </a:rPr>
              <a:t>Static Batching breaks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701E-F89B-43D5-FD5A-A052BB813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5600700" cy="3593591"/>
          </a:xfrm>
        </p:spPr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/>
              </a:rPr>
              <a:t>Unity caps each combined mesh at 65,536 vertices</a:t>
            </a:r>
          </a:p>
          <a:p>
            <a:pPr marL="685800" lvl="1" indent="-228600"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High-poly (19,800 tris ≈ 10,000 verts): only ~6 objects fit per batch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/>
              </a:rPr>
              <a:t>Result: batch count grows linearly with N at high-poly</a:t>
            </a:r>
          </a:p>
          <a:p>
            <a:pPr marL="685800" lvl="1" indent="-228600"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N=10,000 → 1,668 batches (vs. 21 with GPU Instancing)</a:t>
            </a:r>
          </a:p>
          <a:p>
            <a:pPr marL="685800" lvl="1" indent="-228600"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Combined mesh also balloons reserved memory to 6.2 GB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Calibri"/>
              </a:rPr>
              <a:t>GPU Instancing has no such cap — stays at ~21 batches regardless of mesh complexity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80883-5021-5382-18E3-CE5E6107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378" y="2136012"/>
            <a:ext cx="4953000" cy="3101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8634DA-5673-C749-A86B-6D20A9214A61}"/>
              </a:ext>
            </a:extLst>
          </p:cNvPr>
          <p:cNvSpPr txBox="1"/>
          <p:nvPr/>
        </p:nvSpPr>
        <p:spPr>
          <a:xfrm>
            <a:off x="7930063" y="5308092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 dirty="0">
                <a:solidFill>
                  <a:srgbClr val="595959"/>
                </a:solidFill>
              </a:rPr>
              <a:t>Static-batch count vs N — note vertex-cap cliff</a:t>
            </a:r>
            <a:endParaRPr lang="en-TR" sz="1200" i="1" dirty="0">
              <a:solidFill>
                <a:srgbClr val="59595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69A4-366A-0FF3-297F-F6D3CEBABF27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243318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CC2C7-231E-C850-C4AD-1915CDB8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Methodology &amp;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6D1825-020F-7142-5D20-782FFF6A9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335489"/>
              </p:ext>
            </p:extLst>
          </p:nvPr>
        </p:nvGraphicFramePr>
        <p:xfrm>
          <a:off x="1251678" y="1128451"/>
          <a:ext cx="10178322" cy="4165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9A385F-4149-2549-E199-95FDFA7DF07D}"/>
              </a:ext>
            </a:extLst>
          </p:cNvPr>
          <p:cNvSpPr txBox="1"/>
          <p:nvPr/>
        </p:nvSpPr>
        <p:spPr>
          <a:xfrm>
            <a:off x="1001305" y="6290949"/>
            <a:ext cx="1119069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Cross-validated against Unity Editor Profiler — harness agrees within 0.5 </a:t>
            </a:r>
            <a:r>
              <a:rPr lang="en-US" b="0" i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ms</a:t>
            </a:r>
            <a:r>
              <a:rPr lang="en-US" b="0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 across CPU- and GPU-bound regimes.</a:t>
            </a:r>
            <a:endParaRPr lang="en-TR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F8A0A-98A4-344D-7C5A-42519685B23E}"/>
              </a:ext>
            </a:extLst>
          </p:cNvPr>
          <p:cNvSpPr txBox="1"/>
          <p:nvPr/>
        </p:nvSpPr>
        <p:spPr>
          <a:xfrm>
            <a:off x="10440383" y="131045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392880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B6F2-0660-E463-FD47-C7B7F397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Result: GPU Instancing Wins at Scale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B5CCC-3015-9A71-AC8B-EB2139BFE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71" y="1874517"/>
            <a:ext cx="10760529" cy="34537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0A46E-01F3-594B-ABB6-3FBDB5A3E3F7}"/>
              </a:ext>
            </a:extLst>
          </p:cNvPr>
          <p:cNvSpPr txBox="1"/>
          <p:nvPr/>
        </p:nvSpPr>
        <p:spPr>
          <a:xfrm>
            <a:off x="1050471" y="5713615"/>
            <a:ext cx="1143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dirty="0">
                <a:solidFill>
                  <a:srgbClr val="262626"/>
                </a:solidFill>
              </a:rPr>
              <a:t>At N=10000 high-poly: Baseline 21 FPS → GPU Instancing 55 FPS (2.6×). Static Batching: 40 FPS (1.9×).</a:t>
            </a:r>
            <a:endParaRPr lang="en-TR" sz="1600" dirty="0">
              <a:solidFill>
                <a:srgbClr val="26262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D4B91-3B9A-FBB8-3795-84EA3D3F3874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226899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26ADEF2-2BA7-419F-A580-9C6541A73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46248-6675-4D3A-B34A-7363E28C9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A29828-0E9F-418B-A95D-A7D6ABF1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397636A1-434C-40B3-A908-6730DB23C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pic>
        <p:nvPicPr>
          <p:cNvPr id="5" name="game-term-video.mp4">
            <a:hlinkClick r:id="" action="ppaction://media"/>
            <a:extLst>
              <a:ext uri="{FF2B5EF4-FFF2-40B4-BE49-F238E27FC236}">
                <a16:creationId xmlns:a16="http://schemas.microsoft.com/office/drawing/2014/main" id="{AA64CD2B-B660-73BB-1287-D115F974B4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3875" y="832554"/>
            <a:ext cx="10178322" cy="539451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54F33D-6B3D-00BF-8796-554EF22EAD70}"/>
              </a:ext>
            </a:extLst>
          </p:cNvPr>
          <p:cNvSpPr txBox="1">
            <a:spLocks/>
          </p:cNvSpPr>
          <p:nvPr/>
        </p:nvSpPr>
        <p:spPr>
          <a:xfrm>
            <a:off x="1333875" y="201618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Calibri"/>
              </a:rPr>
              <a:t>Demo VIDEO: GPU Instancing in 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AC233-1D8C-336E-B21D-69EEC56B2C17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BBC55-2265-AF26-40DB-DB189861E695}"/>
              </a:ext>
            </a:extLst>
          </p:cNvPr>
          <p:cNvSpPr txBox="1"/>
          <p:nvPr/>
        </p:nvSpPr>
        <p:spPr>
          <a:xfrm>
            <a:off x="1285902" y="6227064"/>
            <a:ext cx="8747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1600" dirty="0"/>
              <a:t>Video Link: </a:t>
            </a:r>
            <a:r>
              <a:rPr lang="en-US" sz="16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https://drive.google.com/file/d/1BxELsNZe8aG59iXXfvFj2ZmJgLVN-Sej/view?usp=sharing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TR" sz="1600" dirty="0"/>
          </a:p>
        </p:txBody>
      </p:sp>
    </p:spTree>
    <p:extLst>
      <p:ext uri="{BB962C8B-B14F-4D97-AF65-F5344CB8AC3E}">
        <p14:creationId xmlns:p14="http://schemas.microsoft.com/office/powerpoint/2010/main" val="244650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F7F3-DEDD-119A-CC81-F7533A74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latin typeface="Calibri"/>
              </a:rPr>
              <a:t>Conclusions &amp;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E29186-2FDC-E53C-8A30-3DCDFBCEE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563654"/>
              </p:ext>
            </p:extLst>
          </p:nvPr>
        </p:nvGraphicFramePr>
        <p:xfrm>
          <a:off x="1251678" y="1008741"/>
          <a:ext cx="10303329" cy="415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61FADFE-C8FB-E89E-3F4D-42F1EB9817AD}"/>
              </a:ext>
            </a:extLst>
          </p:cNvPr>
          <p:cNvSpPr/>
          <p:nvPr/>
        </p:nvSpPr>
        <p:spPr>
          <a:xfrm>
            <a:off x="1573565" y="2306284"/>
            <a:ext cx="9294884" cy="87311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T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9E4A64-A634-AF66-31AF-5457999F0E2E}"/>
              </a:ext>
            </a:extLst>
          </p:cNvPr>
          <p:cNvSpPr/>
          <p:nvPr/>
        </p:nvSpPr>
        <p:spPr>
          <a:xfrm>
            <a:off x="1249804" y="5413389"/>
            <a:ext cx="10303329" cy="8731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TR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B69656-D28E-15D1-2784-CCCDEBD6B976}"/>
              </a:ext>
            </a:extLst>
          </p:cNvPr>
          <p:cNvGrpSpPr/>
          <p:nvPr/>
        </p:nvGrpSpPr>
        <p:grpSpPr>
          <a:xfrm>
            <a:off x="2258248" y="5413389"/>
            <a:ext cx="9294884" cy="873111"/>
            <a:chOff x="1008444" y="3275891"/>
            <a:chExt cx="9294884" cy="87311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B3E4AA-9430-4F97-76F9-69C915927AF4}"/>
                </a:ext>
              </a:extLst>
            </p:cNvPr>
            <p:cNvSpPr/>
            <p:nvPr/>
          </p:nvSpPr>
          <p:spPr>
            <a:xfrm>
              <a:off x="1008444" y="3275891"/>
              <a:ext cx="9294884" cy="87311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TR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A47A04-31AB-11B1-D142-40D011D89C24}"/>
                </a:ext>
              </a:extLst>
            </p:cNvPr>
            <p:cNvSpPr txBox="1"/>
            <p:nvPr/>
          </p:nvSpPr>
          <p:spPr>
            <a:xfrm>
              <a:off x="1008444" y="3275891"/>
              <a:ext cx="9294884" cy="8731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04" tIns="92404" rIns="92404" bIns="9240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i="0" dirty="0">
                  <a:solidFill>
                    <a:schemeClr val="tx1"/>
                  </a:solidFill>
                  <a:effectLst/>
                </a:rPr>
                <a:t>Future work.</a:t>
              </a:r>
              <a:r>
                <a:rPr lang="en-US" sz="2200" b="0" i="0" dirty="0">
                  <a:solidFill>
                    <a:schemeClr val="tx1"/>
                  </a:solidFill>
                  <a:effectLst/>
                </a:rPr>
                <a:t> Extend to URP / HDRP + SRP Batcher; add frustum-culling exercise; cross-platform comparison (D3D11, Vulkan).</a:t>
              </a:r>
              <a:endParaRPr lang="en-US" sz="22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 descr="Stopwatch">
            <a:extLst>
              <a:ext uri="{FF2B5EF4-FFF2-40B4-BE49-F238E27FC236}">
                <a16:creationId xmlns:a16="http://schemas.microsoft.com/office/drawing/2014/main" id="{5B093FA9-B397-50E8-3F27-CAD50AC34F81}"/>
              </a:ext>
            </a:extLst>
          </p:cNvPr>
          <p:cNvSpPr/>
          <p:nvPr/>
        </p:nvSpPr>
        <p:spPr>
          <a:xfrm>
            <a:off x="1469716" y="5574895"/>
            <a:ext cx="568620" cy="513724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D1595-FB0C-0167-F698-C0B5C158BA0C}"/>
              </a:ext>
            </a:extLst>
          </p:cNvPr>
          <p:cNvSpPr txBox="1"/>
          <p:nvPr/>
        </p:nvSpPr>
        <p:spPr>
          <a:xfrm>
            <a:off x="10433957" y="6286500"/>
            <a:ext cx="1467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ERAY YÜKLÜ</a:t>
            </a:r>
          </a:p>
        </p:txBody>
      </p:sp>
    </p:spTree>
    <p:extLst>
      <p:ext uri="{BB962C8B-B14F-4D97-AF65-F5344CB8AC3E}">
        <p14:creationId xmlns:p14="http://schemas.microsoft.com/office/powerpoint/2010/main" val="9691365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58D97E-C6DF-D349-8B32-EE71E3CB01E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4a2ae64-a3e3-4c47-a513-ed206b5900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87</TotalTime>
  <Words>625</Words>
  <Application>Microsoft Macintosh PowerPoint</Application>
  <PresentationFormat>Widescreen</PresentationFormat>
  <Paragraphs>59</Paragraphs>
  <Slides>8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Aptos</vt:lpstr>
      <vt:lpstr>Arial</vt:lpstr>
      <vt:lpstr>Calibri</vt:lpstr>
      <vt:lpstr>Gill Sans MT</vt:lpstr>
      <vt:lpstr>Impact</vt:lpstr>
      <vt:lpstr>Badge</vt:lpstr>
      <vt:lpstr>GPU Instancing &amp; Draw Call Optimization in Unity</vt:lpstr>
      <vt:lpstr>Why Batching Matters</vt:lpstr>
      <vt:lpstr>Experiment Design</vt:lpstr>
      <vt:lpstr>CPU Draw-Call Submission → GPU Vertex Throughput Static Batching breaks down</vt:lpstr>
      <vt:lpstr>Methodology &amp; Metrics</vt:lpstr>
      <vt:lpstr>Result: GPU Instancing Wins at Scale</vt:lpstr>
      <vt:lpstr>PowerPoint Presentation</vt:lpstr>
      <vt:lpstr>Conclusions &amp;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ERAY YÜKLÜ</dc:creator>
  <cp:lastModifiedBy>ERAY YÜKLÜ</cp:lastModifiedBy>
  <cp:revision>2</cp:revision>
  <dcterms:created xsi:type="dcterms:W3CDTF">2026-05-10T21:32:36Z</dcterms:created>
  <dcterms:modified xsi:type="dcterms:W3CDTF">2026-05-10T23:00:00Z</dcterms:modified>
</cp:coreProperties>
</file>